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то я" id="{58d39aa0-56f7-bef9-1af6-a555b6d126b5}">
          <p14:sldIdLst>
            <p14:sldId id="256"/>
            <p14:sldId id="257"/>
          </p14:sldIdLst>
        </p14:section>
        <p14:section name="Результаты и опыт" id="{e7890bd4-9617-996a-825a-42f69a9d7fe7}">
          <p14:sldIdLst>
            <p14:sldId id="258"/>
            <p14:sldId id="259"/>
            <p14:sldId id="260"/>
            <p14:sldId id="261"/>
            <p14:sldId id="262"/>
          </p14:sldIdLst>
        </p14:section>
        <p14:section name="Компетенции" id="{1b198af2-1d02-1573-2361-c3bae945c9e3}">
          <p14:sldIdLst>
            <p14:sldId id="263"/>
            <p14:sldId id="264"/>
          </p14:sldIdLst>
        </p14:section>
        <p14:section name="План и контакты" id="{85fb757b-bda2-e014-4280-bbf3648f365a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Короткое представление: имя, специализация, одна фраза о подходе. Плейсхолдер справа заменить на фото.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Цифры оценочные (реалистичные ориентиры). Перед отправкой сверить с реальными данными и быть готовой объяснить, как каждая получена.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Инструменты в квадратных скобках указаны предположительно: в резюме их нет. Оставить только те, которыми реально владеешь.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1468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Мелисса Кангельдиева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812800" y="762000"/>
            <a:ext cx="10566400" cy="30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4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12800" y="1117600"/>
            <a:ext cx="10566400" cy="1079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1468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1468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Мелисса Кангельдиева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812800" y="762000"/>
            <a:ext cx="10566400" cy="30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4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12800" y="1117600"/>
            <a:ext cx="10566400" cy="1079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1468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1468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Мелисса Кангельдиева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812800" y="762000"/>
            <a:ext cx="10566400" cy="30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4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12800" y="1117600"/>
            <a:ext cx="10566400" cy="1079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1468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1468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812800" y="1587500"/>
            <a:ext cx="635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SMM · КОНТЕНТ · КОРОТКИЕ ВИДЕО</a:t>
            </a:r>
            <a:endParaRPr lang="en-US" sz="1400" dirty="0"/>
          </a:p>
        </p:txBody>
      </p:sp>
      <p:sp>
        <p:nvSpPr>
          <p:cNvPr id="3" name="text-2"/>
          <p:cNvSpPr txBox="1"/>
          <p:nvPr/>
        </p:nvSpPr>
        <p:spPr>
          <a:xfrm>
            <a:off x="812800" y="2032000"/>
            <a:ext cx="66675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Мелисса</a:t>
            </a:r>
            <a:endParaRPr lang="en-US" sz="5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Кангельдиева</a:t>
            </a:r>
            <a:endParaRPr lang="en-US" sz="5200" dirty="0"/>
          </a:p>
        </p:txBody>
      </p:sp>
      <p:sp>
        <p:nvSpPr>
          <p:cNvPr id="4" name="text-3"/>
          <p:cNvSpPr txBox="1"/>
          <p:nvPr/>
        </p:nvSpPr>
        <p:spPr>
          <a:xfrm>
            <a:off x="812800" y="3873500"/>
            <a:ext cx="6223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tx2"/>
                </a:solidFill>
              </a:rPr>
              <a:t>SMM-специалист и маркетолог. Делаю контент, который набирает охваты и превращается в продажи.</a:t>
            </a:r>
            <a:endParaRPr lang="en-US" sz="2000" dirty="0"/>
          </a:p>
        </p:txBody>
      </p:sp>
      <p:sp>
        <p:nvSpPr>
          <p:cNvPr id="5" name="pill-4"/>
          <p:cNvSpPr/>
          <p:nvPr/>
        </p:nvSpPr>
        <p:spPr>
          <a:xfrm>
            <a:off x="812800" y="5143500"/>
            <a:ext cx="2095500" cy="3810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6" name="text-5"/>
          <p:cNvSpPr txBox="1"/>
          <p:nvPr/>
        </p:nvSpPr>
        <p:spPr>
          <a:xfrm>
            <a:off x="812800" y="5143500"/>
            <a:ext cx="209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+420 777 987 587</a:t>
            </a:r>
            <a:endParaRPr lang="en-US" sz="1300" dirty="0"/>
          </a:p>
        </p:txBody>
      </p:sp>
      <p:sp>
        <p:nvSpPr>
          <p:cNvPr id="7" name="pill-6"/>
          <p:cNvSpPr/>
          <p:nvPr/>
        </p:nvSpPr>
        <p:spPr>
          <a:xfrm>
            <a:off x="3060700" y="5143500"/>
            <a:ext cx="2984500" cy="381000"/>
          </a:xfrm>
          <a:prstGeom prst="roundRect">
            <a:avLst>
              <a:gd name="adj" fmla="val 50000"/>
            </a:avLst>
          </a:prstGeom>
          <a:ln w="19050">
            <a:solidFill>
              <a:schemeClr val="tx1"/>
            </a:solidFill>
            <a:prstDash val="solid"/>
          </a:ln>
        </p:spPr>
      </p:sp>
      <p:sp>
        <p:nvSpPr>
          <p:cNvPr id="8" name="text-7"/>
          <p:cNvSpPr txBox="1"/>
          <p:nvPr/>
        </p:nvSpPr>
        <p:spPr>
          <a:xfrm>
            <a:off x="3060700" y="5143500"/>
            <a:ext cx="2984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melissakiiiiim@gmail.com</a:t>
            </a:r>
            <a:endParaRPr lang="en-US" sz="1300" dirty="0"/>
          </a:p>
        </p:txBody>
      </p:sp>
      <p:sp>
        <p:nvSpPr>
          <p:cNvPr id="9" name="photo-body"/>
          <p:cNvSpPr/>
          <p:nvPr/>
        </p:nvSpPr>
        <p:spPr>
          <a:xfrm>
            <a:off x="7823200" y="2921000"/>
            <a:ext cx="3556000" cy="2794000"/>
          </a:xfrm>
          <a:prstGeom prst="roundRect">
            <a:avLst>
              <a:gd name="adj" fmla="val 7273"/>
            </a:avLst>
          </a:prstGeom>
          <a:solidFill>
            <a:srgbClr val="E6DED1"/>
          </a:solidFill>
          <a:ln/>
        </p:spPr>
      </p:sp>
      <p:sp>
        <p:nvSpPr>
          <p:cNvPr id="10" name="photo-top"/>
          <p:cNvSpPr/>
          <p:nvPr/>
        </p:nvSpPr>
        <p:spPr>
          <a:xfrm>
            <a:off x="7823200" y="1143000"/>
            <a:ext cx="3556000" cy="3556000"/>
          </a:xfrm>
          <a:prstGeom prst="ellipse">
            <a:avLst/>
          </a:prstGeom>
          <a:solidFill>
            <a:srgbClr val="E6DED1"/>
          </a:solidFill>
          <a:ln/>
        </p:spPr>
      </p:sp>
      <p:sp>
        <p:nvSpPr>
          <p:cNvPr id="11" name="photo-join"/>
          <p:cNvSpPr/>
          <p:nvPr/>
        </p:nvSpPr>
        <p:spPr>
          <a:xfrm>
            <a:off x="7823200" y="2921000"/>
            <a:ext cx="3556000" cy="635000"/>
          </a:xfrm>
          <a:prstGeom prst="rect">
            <a:avLst/>
          </a:prstGeom>
          <a:solidFill>
            <a:srgbClr val="E6DED1"/>
          </a:solidFill>
          <a:ln/>
        </p:spPr>
      </p:sp>
      <p:sp>
        <p:nvSpPr>
          <p:cNvPr id="12" name="text-8"/>
          <p:cNvSpPr txBox="1"/>
          <p:nvPr/>
        </p:nvSpPr>
        <p:spPr>
          <a:xfrm>
            <a:off x="7823200" y="3302000"/>
            <a:ext cx="3556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[Фото]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12800" y="762000"/>
            <a:ext cx="1056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ОБО МНЕ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812800" y="1117600"/>
            <a:ext cx="105664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SMM, который понимает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воронку и продажи</a:t>
            </a:r>
            <a:endParaRPr lang="en-US" sz="3200" dirty="0"/>
          </a:p>
        </p:txBody>
      </p:sp>
      <p:sp>
        <p:nvSpPr>
          <p:cNvPr id="4" name="card-9"/>
          <p:cNvSpPr/>
          <p:nvPr/>
        </p:nvSpPr>
        <p:spPr>
          <a:xfrm>
            <a:off x="812800" y="2540000"/>
            <a:ext cx="3384550" cy="2095500"/>
          </a:xfrm>
          <a:prstGeom prst="roundRect">
            <a:avLst>
              <a:gd name="adj" fmla="val 7273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text-10"/>
          <p:cNvSpPr txBox="1"/>
          <p:nvPr/>
        </p:nvSpPr>
        <p:spPr>
          <a:xfrm>
            <a:off x="1117600" y="2844800"/>
            <a:ext cx="27749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 года</a:t>
            </a:r>
            <a:endParaRPr lang="en-US" sz="3200" dirty="0"/>
          </a:p>
        </p:txBody>
      </p:sp>
      <p:sp>
        <p:nvSpPr>
          <p:cNvPr id="6" name="text-11"/>
          <p:cNvSpPr txBox="1"/>
          <p:nvPr/>
        </p:nvSpPr>
        <p:spPr>
          <a:xfrm>
            <a:off x="1117600" y="3556000"/>
            <a:ext cx="277495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в маркетинге и SMM: 6 компаний, от контента до руководства отделом</a:t>
            </a:r>
            <a:endParaRPr lang="en-US" sz="1600" dirty="0"/>
          </a:p>
        </p:txBody>
      </p:sp>
      <p:sp>
        <p:nvSpPr>
          <p:cNvPr id="7" name="card-12"/>
          <p:cNvSpPr/>
          <p:nvPr/>
        </p:nvSpPr>
        <p:spPr>
          <a:xfrm>
            <a:off x="4400550" y="2540000"/>
            <a:ext cx="3384550" cy="2095500"/>
          </a:xfrm>
          <a:prstGeom prst="roundRect">
            <a:avLst>
              <a:gd name="adj" fmla="val 7273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text-13"/>
          <p:cNvSpPr txBox="1"/>
          <p:nvPr/>
        </p:nvSpPr>
        <p:spPr>
          <a:xfrm>
            <a:off x="4705350" y="2844800"/>
            <a:ext cx="27749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языка</a:t>
            </a:r>
            <a:endParaRPr lang="en-US" sz="3200" dirty="0"/>
          </a:p>
        </p:txBody>
      </p:sp>
      <p:sp>
        <p:nvSpPr>
          <p:cNvPr id="9" name="text-14"/>
          <p:cNvSpPr txBox="1"/>
          <p:nvPr/>
        </p:nvSpPr>
        <p:spPr>
          <a:xfrm>
            <a:off x="4705350" y="3556000"/>
            <a:ext cx="277495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русский C2 · чешский B2 · английский B2</a:t>
            </a:r>
            <a:endParaRPr lang="en-US" sz="1600" dirty="0"/>
          </a:p>
        </p:txBody>
      </p:sp>
      <p:sp>
        <p:nvSpPr>
          <p:cNvPr id="10" name="card-15"/>
          <p:cNvSpPr/>
          <p:nvPr/>
        </p:nvSpPr>
        <p:spPr>
          <a:xfrm>
            <a:off x="7988300" y="2540000"/>
            <a:ext cx="3384550" cy="2095500"/>
          </a:xfrm>
          <a:prstGeom prst="roundRect">
            <a:avLst>
              <a:gd name="adj" fmla="val 7273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1" name="text-16"/>
          <p:cNvSpPr txBox="1"/>
          <p:nvPr/>
        </p:nvSpPr>
        <p:spPr>
          <a:xfrm>
            <a:off x="8293100" y="2844800"/>
            <a:ext cx="27749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VŠFS</a:t>
            </a:r>
            <a:endParaRPr lang="en-US" sz="3200" dirty="0"/>
          </a:p>
        </p:txBody>
      </p:sp>
      <p:sp>
        <p:nvSpPr>
          <p:cNvPr id="12" name="text-17"/>
          <p:cNvSpPr txBox="1"/>
          <p:nvPr/>
        </p:nvSpPr>
        <p:spPr>
          <a:xfrm>
            <a:off x="8293100" y="3556000"/>
            <a:ext cx="277495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Бакалавриат</a:t>
            </a:r>
            <a:endParaRPr lang="en-US" sz="1600" dirty="0"/>
          </a:p>
        </p:txBody>
      </p:sp>
      <p:sp>
        <p:nvSpPr>
          <p:cNvPr id="13" name="text-18"/>
          <p:cNvSpPr txBox="1"/>
          <p:nvPr/>
        </p:nvSpPr>
        <p:spPr>
          <a:xfrm>
            <a:off x="812800" y="5016500"/>
            <a:ext cx="10566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Площадки: Instagram, TikTok, Facebook. Рынки: Центральная Азия, США. Живу в Праге.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1468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12800" y="762000"/>
            <a:ext cx="1056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2"/>
                </a:solidFill>
              </a:rPr>
              <a:t>КЛЮЧЕВЫЕ РЕЗУЛЬТАТЫ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812800" y="1117600"/>
            <a:ext cx="105664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Охваты, вовлечённость, продажи</a:t>
            </a:r>
            <a:endParaRPr lang="en-US" sz="3200" dirty="0"/>
          </a:p>
        </p:txBody>
      </p:sp>
      <p:sp>
        <p:nvSpPr>
          <p:cNvPr id="5" name="rule-19"/>
          <p:cNvSpPr/>
          <p:nvPr/>
        </p:nvSpPr>
        <p:spPr>
          <a:xfrm>
            <a:off x="812800" y="3556000"/>
            <a:ext cx="2489200" cy="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</p:sp>
      <p:sp>
        <p:nvSpPr>
          <p:cNvPr id="6" name="text-20"/>
          <p:cNvSpPr txBox="1"/>
          <p:nvPr/>
        </p:nvSpPr>
        <p:spPr>
          <a:xfrm>
            <a:off x="812800" y="3746500"/>
            <a:ext cx="2489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×3</a:t>
            </a:r>
            <a:endParaRPr lang="en-US" sz="4000" dirty="0"/>
          </a:p>
        </p:txBody>
      </p:sp>
      <p:sp>
        <p:nvSpPr>
          <p:cNvPr id="7" name="text-21"/>
          <p:cNvSpPr txBox="1"/>
          <p:nvPr/>
        </p:nvSpPr>
        <p:spPr>
          <a:xfrm>
            <a:off x="812800" y="4572000"/>
            <a:ext cx="248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рост охватов в соцсетях за 6 месяцев (Caps Logistics)</a:t>
            </a:r>
            <a:endParaRPr lang="en-US" sz="1500" dirty="0"/>
          </a:p>
        </p:txBody>
      </p:sp>
      <p:sp>
        <p:nvSpPr>
          <p:cNvPr id="8" name="rule-22"/>
          <p:cNvSpPr/>
          <p:nvPr/>
        </p:nvSpPr>
        <p:spPr>
          <a:xfrm>
            <a:off x="3505200" y="3556000"/>
            <a:ext cx="2489200" cy="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</p:sp>
      <p:sp>
        <p:nvSpPr>
          <p:cNvPr id="9" name="text-23"/>
          <p:cNvSpPr txBox="1"/>
          <p:nvPr/>
        </p:nvSpPr>
        <p:spPr>
          <a:xfrm>
            <a:off x="3505200" y="3746500"/>
            <a:ext cx="2489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6,8%</a:t>
            </a:r>
            <a:endParaRPr lang="en-US" sz="4000" dirty="0"/>
          </a:p>
        </p:txBody>
      </p:sp>
      <p:sp>
        <p:nvSpPr>
          <p:cNvPr id="10" name="text-24"/>
          <p:cNvSpPr txBox="1"/>
          <p:nvPr/>
        </p:nvSpPr>
        <p:spPr>
          <a:xfrm>
            <a:off x="3505200" y="4572000"/>
            <a:ext cx="248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средний ER в Instagram при норме для B2B 1–3% (Inwork)</a:t>
            </a:r>
            <a:endParaRPr lang="en-US" sz="1500" dirty="0"/>
          </a:p>
        </p:txBody>
      </p:sp>
      <p:sp>
        <p:nvSpPr>
          <p:cNvPr id="11" name="rule-25"/>
          <p:cNvSpPr/>
          <p:nvPr/>
        </p:nvSpPr>
        <p:spPr>
          <a:xfrm>
            <a:off x="6197600" y="3556000"/>
            <a:ext cx="2489200" cy="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</p:sp>
      <p:sp>
        <p:nvSpPr>
          <p:cNvPr id="12" name="text-26"/>
          <p:cNvSpPr txBox="1"/>
          <p:nvPr/>
        </p:nvSpPr>
        <p:spPr>
          <a:xfrm>
            <a:off x="6197600" y="3746500"/>
            <a:ext cx="2489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+12K</a:t>
            </a:r>
            <a:endParaRPr lang="en-US" sz="4000" dirty="0"/>
          </a:p>
        </p:txBody>
      </p:sp>
      <p:sp>
        <p:nvSpPr>
          <p:cNvPr id="13" name="text-27"/>
          <p:cNvSpPr txBox="1"/>
          <p:nvPr/>
        </p:nvSpPr>
        <p:spPr>
          <a:xfrm>
            <a:off x="6197600" y="4572000"/>
            <a:ext cx="248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новых подписчиков в Instagram и TikTok за год</a:t>
            </a:r>
            <a:endParaRPr lang="en-US" sz="1500" dirty="0"/>
          </a:p>
        </p:txBody>
      </p:sp>
      <p:sp>
        <p:nvSpPr>
          <p:cNvPr id="14" name="rule-28"/>
          <p:cNvSpPr/>
          <p:nvPr/>
        </p:nvSpPr>
        <p:spPr>
          <a:xfrm>
            <a:off x="8890000" y="3556000"/>
            <a:ext cx="2489200" cy="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</p:sp>
      <p:sp>
        <p:nvSpPr>
          <p:cNvPr id="15" name="text-29"/>
          <p:cNvSpPr txBox="1"/>
          <p:nvPr/>
        </p:nvSpPr>
        <p:spPr>
          <a:xfrm>
            <a:off x="8890000" y="3746500"/>
            <a:ext cx="2489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−40%</a:t>
            </a:r>
            <a:endParaRPr lang="en-US" sz="4000" dirty="0"/>
          </a:p>
        </p:txBody>
      </p:sp>
      <p:sp>
        <p:nvSpPr>
          <p:cNvPr id="16" name="text-30"/>
          <p:cNvSpPr txBox="1"/>
          <p:nvPr/>
        </p:nvSpPr>
        <p:spPr>
          <a:xfrm>
            <a:off x="8890000" y="4572000"/>
            <a:ext cx="248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стоимость лида из соцсетей (Google Ads и Meta Ads)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1468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12800" y="762000"/>
            <a:ext cx="1056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ОПЫТ В SMM И DIGITAL · 2022–2024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812800" y="1117600"/>
            <a:ext cx="105664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SMM и digital в трёх брендах</a:t>
            </a:r>
            <a:endParaRPr lang="en-US" sz="3200" dirty="0"/>
          </a:p>
        </p:txBody>
      </p:sp>
      <p:sp>
        <p:nvSpPr>
          <p:cNvPr id="4" name="card-31"/>
          <p:cNvSpPr/>
          <p:nvPr/>
        </p:nvSpPr>
        <p:spPr>
          <a:xfrm>
            <a:off x="812800" y="2413000"/>
            <a:ext cx="3384550" cy="2921000"/>
          </a:xfrm>
          <a:prstGeom prst="roundRect">
            <a:avLst>
              <a:gd name="adj" fmla="val 5217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text-32"/>
          <p:cNvSpPr txBox="1"/>
          <p:nvPr/>
        </p:nvSpPr>
        <p:spPr>
          <a:xfrm>
            <a:off x="1066800" y="2667000"/>
            <a:ext cx="2876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Inwork</a:t>
            </a:r>
            <a:endParaRPr lang="en-US" sz="1900" dirty="0"/>
          </a:p>
        </p:txBody>
      </p:sp>
      <p:sp>
        <p:nvSpPr>
          <p:cNvPr id="6" name="text-33"/>
          <p:cNvSpPr txBox="1"/>
          <p:nvPr/>
        </p:nvSpPr>
        <p:spPr>
          <a:xfrm>
            <a:off x="1066800" y="3073400"/>
            <a:ext cx="28765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SaaS · Digital-маркетолог, SMM</a:t>
            </a:r>
            <a:endParaRPr lang="en-US" sz="1200" dirty="0"/>
          </a:p>
        </p:txBody>
      </p:sp>
      <p:sp>
        <p:nvSpPr>
          <p:cNvPr id="7" name="text-34"/>
          <p:cNvSpPr txBox="1"/>
          <p:nvPr/>
        </p:nvSpPr>
        <p:spPr>
          <a:xfrm>
            <a:off x="1066800" y="3403600"/>
            <a:ext cx="287655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6,8%</a:t>
            </a:r>
            <a:endParaRPr lang="en-US" sz="2600" dirty="0"/>
          </a:p>
        </p:txBody>
      </p:sp>
      <p:sp>
        <p:nvSpPr>
          <p:cNvPr id="8" name="text-35"/>
          <p:cNvSpPr txBox="1"/>
          <p:nvPr/>
        </p:nvSpPr>
        <p:spPr>
          <a:xfrm>
            <a:off x="1066800" y="4000500"/>
            <a:ext cx="28765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Контент-план и его реализация в Instagram, TikTok, Facebook. Экспертный контент о продукте.</a:t>
            </a:r>
            <a:endParaRPr lang="en-US" sz="1400" dirty="0"/>
          </a:p>
        </p:txBody>
      </p:sp>
      <p:sp>
        <p:nvSpPr>
          <p:cNvPr id="9" name="card-36"/>
          <p:cNvSpPr/>
          <p:nvPr/>
        </p:nvSpPr>
        <p:spPr>
          <a:xfrm>
            <a:off x="4400550" y="2413000"/>
            <a:ext cx="3384550" cy="2921000"/>
          </a:xfrm>
          <a:prstGeom prst="roundRect">
            <a:avLst>
              <a:gd name="adj" fmla="val 5217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text-37"/>
          <p:cNvSpPr txBox="1"/>
          <p:nvPr/>
        </p:nvSpPr>
        <p:spPr>
          <a:xfrm>
            <a:off x="4654550" y="2667000"/>
            <a:ext cx="2876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 Logistics</a:t>
            </a:r>
            <a:endParaRPr lang="en-US" sz="1900" dirty="0"/>
          </a:p>
        </p:txBody>
      </p:sp>
      <p:sp>
        <p:nvSpPr>
          <p:cNvPr id="11" name="text-38"/>
          <p:cNvSpPr txBox="1"/>
          <p:nvPr/>
        </p:nvSpPr>
        <p:spPr>
          <a:xfrm>
            <a:off x="4654550" y="3073400"/>
            <a:ext cx="28765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Логистика · Digital-маркетолог, SMM</a:t>
            </a:r>
            <a:endParaRPr lang="en-US" sz="1200" dirty="0"/>
          </a:p>
        </p:txBody>
      </p:sp>
      <p:sp>
        <p:nvSpPr>
          <p:cNvPr id="12" name="text-39"/>
          <p:cNvSpPr txBox="1"/>
          <p:nvPr/>
        </p:nvSpPr>
        <p:spPr>
          <a:xfrm>
            <a:off x="4654550" y="3403600"/>
            <a:ext cx="287655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×3 охват</a:t>
            </a:r>
            <a:endParaRPr lang="en-US" sz="2600" dirty="0"/>
          </a:p>
        </p:txBody>
      </p:sp>
      <p:sp>
        <p:nvSpPr>
          <p:cNvPr id="13" name="text-40"/>
          <p:cNvSpPr txBox="1"/>
          <p:nvPr/>
        </p:nvSpPr>
        <p:spPr>
          <a:xfrm>
            <a:off x="4654550" y="4000500"/>
            <a:ext cx="28765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Короткие видео о процессах «за кадром», платное продвижение, стратегия бренда.</a:t>
            </a:r>
            <a:endParaRPr lang="en-US" sz="1400" dirty="0"/>
          </a:p>
        </p:txBody>
      </p:sp>
      <p:sp>
        <p:nvSpPr>
          <p:cNvPr id="14" name="card-41"/>
          <p:cNvSpPr/>
          <p:nvPr/>
        </p:nvSpPr>
        <p:spPr>
          <a:xfrm>
            <a:off x="7988300" y="2413000"/>
            <a:ext cx="3384550" cy="2921000"/>
          </a:xfrm>
          <a:prstGeom prst="roundRect">
            <a:avLst>
              <a:gd name="adj" fmla="val 5217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5" name="text-42"/>
          <p:cNvSpPr txBox="1"/>
          <p:nvPr/>
        </p:nvSpPr>
        <p:spPr>
          <a:xfrm>
            <a:off x="8242300" y="2667000"/>
            <a:ext cx="2876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DemirBank</a:t>
            </a:r>
            <a:endParaRPr lang="en-US" sz="1900" dirty="0"/>
          </a:p>
        </p:txBody>
      </p:sp>
      <p:sp>
        <p:nvSpPr>
          <p:cNvPr id="16" name="text-43"/>
          <p:cNvSpPr txBox="1"/>
          <p:nvPr/>
        </p:nvSpPr>
        <p:spPr>
          <a:xfrm>
            <a:off x="8242300" y="3073400"/>
            <a:ext cx="28765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Финтех · Digital-маркетолог</a:t>
            </a:r>
            <a:endParaRPr lang="en-US" sz="1200" dirty="0"/>
          </a:p>
        </p:txBody>
      </p:sp>
      <p:sp>
        <p:nvSpPr>
          <p:cNvPr id="17" name="text-44"/>
          <p:cNvSpPr txBox="1"/>
          <p:nvPr/>
        </p:nvSpPr>
        <p:spPr>
          <a:xfrm>
            <a:off x="8242300" y="3403600"/>
            <a:ext cx="287655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+40%</a:t>
            </a:r>
            <a:endParaRPr lang="en-US" sz="2600" dirty="0"/>
          </a:p>
        </p:txBody>
      </p:sp>
      <p:sp>
        <p:nvSpPr>
          <p:cNvPr id="18" name="text-45"/>
          <p:cNvSpPr txBox="1"/>
          <p:nvPr/>
        </p:nvSpPr>
        <p:spPr>
          <a:xfrm>
            <a:off x="8242300" y="4000500"/>
            <a:ext cx="28765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установок приложения. Таргет и контент для B2B и B2C, аналитика в Firebase.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1468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12800" y="762000"/>
            <a:ext cx="1056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КАК Я РАБОТАЮ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812800" y="1117600"/>
            <a:ext cx="105664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идеи до анализа — сама</a:t>
            </a:r>
            <a:endParaRPr lang="en-US" sz="3200" dirty="0"/>
          </a:p>
        </p:txBody>
      </p:sp>
      <p:sp>
        <p:nvSpPr>
          <p:cNvPr id="4" name="card-46"/>
          <p:cNvSpPr/>
          <p:nvPr/>
        </p:nvSpPr>
        <p:spPr>
          <a:xfrm>
            <a:off x="812800" y="2286000"/>
            <a:ext cx="2006600" cy="2286000"/>
          </a:xfrm>
          <a:prstGeom prst="roundRect">
            <a:avLst>
              <a:gd name="adj" fmla="val 7595"/>
            </a:avLst>
          </a:prstGeom>
          <a:solidFill>
            <a:schemeClr val="accent3"/>
          </a:solidFill>
          <a:ln/>
        </p:spPr>
      </p:sp>
      <p:sp>
        <p:nvSpPr>
          <p:cNvPr id="5" name="text-47"/>
          <p:cNvSpPr txBox="1"/>
          <p:nvPr/>
        </p:nvSpPr>
        <p:spPr>
          <a:xfrm>
            <a:off x="1016000" y="2489200"/>
            <a:ext cx="1600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-48"/>
          <p:cNvSpPr txBox="1"/>
          <p:nvPr/>
        </p:nvSpPr>
        <p:spPr>
          <a:xfrm>
            <a:off x="1016000" y="3022600"/>
            <a:ext cx="16002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Тренды</a:t>
            </a:r>
            <a:endParaRPr lang="en-US" sz="1600" dirty="0"/>
          </a:p>
        </p:txBody>
      </p:sp>
      <p:sp>
        <p:nvSpPr>
          <p:cNvPr id="7" name="text-49"/>
          <p:cNvSpPr txBox="1"/>
          <p:nvPr/>
        </p:nvSpPr>
        <p:spPr>
          <a:xfrm>
            <a:off x="1016000" y="3429000"/>
            <a:ext cx="16002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Темы, референсы, анализ конкурентов</a:t>
            </a:r>
            <a:endParaRPr lang="en-US" sz="1300" dirty="0"/>
          </a:p>
        </p:txBody>
      </p:sp>
      <p:sp>
        <p:nvSpPr>
          <p:cNvPr id="8" name="card-50"/>
          <p:cNvSpPr/>
          <p:nvPr/>
        </p:nvSpPr>
        <p:spPr>
          <a:xfrm>
            <a:off x="2952750" y="2286000"/>
            <a:ext cx="2006600" cy="2286000"/>
          </a:xfrm>
          <a:prstGeom prst="roundRect">
            <a:avLst>
              <a:gd name="adj" fmla="val 7595"/>
            </a:avLst>
          </a:prstGeom>
          <a:solidFill>
            <a:schemeClr val="accent3"/>
          </a:solidFill>
          <a:ln/>
        </p:spPr>
      </p:sp>
      <p:sp>
        <p:nvSpPr>
          <p:cNvPr id="9" name="text-51"/>
          <p:cNvSpPr txBox="1"/>
          <p:nvPr/>
        </p:nvSpPr>
        <p:spPr>
          <a:xfrm>
            <a:off x="3155950" y="2489200"/>
            <a:ext cx="1600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-52"/>
          <p:cNvSpPr txBox="1"/>
          <p:nvPr/>
        </p:nvSpPr>
        <p:spPr>
          <a:xfrm>
            <a:off x="3155950" y="3022600"/>
            <a:ext cx="16002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Сценарий</a:t>
            </a:r>
            <a:endParaRPr lang="en-US" sz="1600" dirty="0"/>
          </a:p>
        </p:txBody>
      </p:sp>
      <p:sp>
        <p:nvSpPr>
          <p:cNvPr id="11" name="text-53"/>
          <p:cNvSpPr txBox="1"/>
          <p:nvPr/>
        </p:nvSpPr>
        <p:spPr>
          <a:xfrm>
            <a:off x="3155950" y="3429000"/>
            <a:ext cx="16002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Хук в первые 3 секунды, текст, раскадровка</a:t>
            </a:r>
            <a:endParaRPr lang="en-US" sz="1300" dirty="0"/>
          </a:p>
        </p:txBody>
      </p:sp>
      <p:sp>
        <p:nvSpPr>
          <p:cNvPr id="12" name="card-54"/>
          <p:cNvSpPr/>
          <p:nvPr/>
        </p:nvSpPr>
        <p:spPr>
          <a:xfrm>
            <a:off x="5092700" y="2286000"/>
            <a:ext cx="2006600" cy="2286000"/>
          </a:xfrm>
          <a:prstGeom prst="roundRect">
            <a:avLst>
              <a:gd name="adj" fmla="val 7595"/>
            </a:avLst>
          </a:prstGeom>
          <a:solidFill>
            <a:schemeClr val="accent3"/>
          </a:solidFill>
          <a:ln/>
        </p:spPr>
      </p:sp>
      <p:sp>
        <p:nvSpPr>
          <p:cNvPr id="13" name="text-55"/>
          <p:cNvSpPr txBox="1"/>
          <p:nvPr/>
        </p:nvSpPr>
        <p:spPr>
          <a:xfrm>
            <a:off x="5295900" y="2489200"/>
            <a:ext cx="1600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-56"/>
          <p:cNvSpPr txBox="1"/>
          <p:nvPr/>
        </p:nvSpPr>
        <p:spPr>
          <a:xfrm>
            <a:off x="5295900" y="3022600"/>
            <a:ext cx="16002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Съёмка</a:t>
            </a:r>
            <a:endParaRPr lang="en-US" sz="1600" dirty="0"/>
          </a:p>
        </p:txBody>
      </p:sp>
      <p:sp>
        <p:nvSpPr>
          <p:cNvPr id="15" name="text-57"/>
          <p:cNvSpPr txBox="1"/>
          <p:nvPr/>
        </p:nvSpPr>
        <p:spPr>
          <a:xfrm>
            <a:off x="5295900" y="3429000"/>
            <a:ext cx="16002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Reels, TikTok, Shorts, Stories и монтаж</a:t>
            </a:r>
            <a:endParaRPr lang="en-US" sz="1300" dirty="0"/>
          </a:p>
        </p:txBody>
      </p:sp>
      <p:sp>
        <p:nvSpPr>
          <p:cNvPr id="16" name="card-58"/>
          <p:cNvSpPr/>
          <p:nvPr/>
        </p:nvSpPr>
        <p:spPr>
          <a:xfrm>
            <a:off x="7232650" y="2286000"/>
            <a:ext cx="2006600" cy="2286000"/>
          </a:xfrm>
          <a:prstGeom prst="roundRect">
            <a:avLst>
              <a:gd name="adj" fmla="val 7595"/>
            </a:avLst>
          </a:prstGeom>
          <a:solidFill>
            <a:schemeClr val="accent3"/>
          </a:solidFill>
          <a:ln/>
        </p:spPr>
      </p:sp>
      <p:sp>
        <p:nvSpPr>
          <p:cNvPr id="17" name="text-59"/>
          <p:cNvSpPr txBox="1"/>
          <p:nvPr/>
        </p:nvSpPr>
        <p:spPr>
          <a:xfrm>
            <a:off x="7435850" y="2489200"/>
            <a:ext cx="1600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-60"/>
          <p:cNvSpPr txBox="1"/>
          <p:nvPr/>
        </p:nvSpPr>
        <p:spPr>
          <a:xfrm>
            <a:off x="7435850" y="3022600"/>
            <a:ext cx="16002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Публикация</a:t>
            </a:r>
            <a:endParaRPr lang="en-US" sz="1600" dirty="0"/>
          </a:p>
        </p:txBody>
      </p:sp>
      <p:sp>
        <p:nvSpPr>
          <p:cNvPr id="19" name="text-61"/>
          <p:cNvSpPr txBox="1"/>
          <p:nvPr/>
        </p:nvSpPr>
        <p:spPr>
          <a:xfrm>
            <a:off x="7435850" y="3429000"/>
            <a:ext cx="16002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Адаптация под каждую площадку</a:t>
            </a:r>
            <a:endParaRPr lang="en-US" sz="1300" dirty="0"/>
          </a:p>
        </p:txBody>
      </p:sp>
      <p:sp>
        <p:nvSpPr>
          <p:cNvPr id="20" name="card-62"/>
          <p:cNvSpPr/>
          <p:nvPr/>
        </p:nvSpPr>
        <p:spPr>
          <a:xfrm>
            <a:off x="9372600" y="2286000"/>
            <a:ext cx="2006600" cy="2286000"/>
          </a:xfrm>
          <a:prstGeom prst="roundRect">
            <a:avLst>
              <a:gd name="adj" fmla="val 7595"/>
            </a:avLst>
          </a:prstGeom>
          <a:solidFill>
            <a:schemeClr val="accent3"/>
          </a:solidFill>
          <a:ln/>
        </p:spPr>
      </p:sp>
      <p:sp>
        <p:nvSpPr>
          <p:cNvPr id="21" name="text-63"/>
          <p:cNvSpPr txBox="1"/>
          <p:nvPr/>
        </p:nvSpPr>
        <p:spPr>
          <a:xfrm>
            <a:off x="9575800" y="2489200"/>
            <a:ext cx="1600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-64"/>
          <p:cNvSpPr txBox="1"/>
          <p:nvPr/>
        </p:nvSpPr>
        <p:spPr>
          <a:xfrm>
            <a:off x="9575800" y="3022600"/>
            <a:ext cx="16002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Анализ</a:t>
            </a:r>
            <a:endParaRPr lang="en-US" sz="1600" dirty="0"/>
          </a:p>
        </p:txBody>
      </p:sp>
      <p:sp>
        <p:nvSpPr>
          <p:cNvPr id="23" name="text-65"/>
          <p:cNvSpPr txBox="1"/>
          <p:nvPr/>
        </p:nvSpPr>
        <p:spPr>
          <a:xfrm>
            <a:off x="9575800" y="3429000"/>
            <a:ext cx="16002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Охваты, ER, заявки и новые гипотезы</a:t>
            </a:r>
            <a:endParaRPr lang="en-US" sz="1300" dirty="0"/>
          </a:p>
        </p:txBody>
      </p:sp>
      <p:sp>
        <p:nvSpPr>
          <p:cNvPr id="24" name="text-66"/>
          <p:cNvSpPr txBox="1"/>
          <p:nvPr/>
        </p:nvSpPr>
        <p:spPr>
          <a:xfrm>
            <a:off x="812800" y="4953000"/>
            <a:ext cx="1056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Каждый ролик решает задачу воронки: охват, доверие к эксперту или продажа курса.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1468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12800" y="762000"/>
            <a:ext cx="1056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ОПЫТ · 2024–2025 · СВЯЗКА КОНТЕНТА И ПРОДАЖ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812800" y="1117600"/>
            <a:ext cx="105664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MMT Group</a:t>
            </a:r>
            <a:endParaRPr lang="en-US" sz="3200" dirty="0"/>
          </a:p>
        </p:txBody>
      </p:sp>
      <p:sp>
        <p:nvSpPr>
          <p:cNvPr id="4" name="text-67"/>
          <p:cNvSpPr txBox="1"/>
          <p:nvPr/>
        </p:nvSpPr>
        <p:spPr>
          <a:xfrm>
            <a:off x="812800" y="1714500"/>
            <a:ext cx="105664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Руководитель маркетингового отдела · B2B, сувенирная продукция · Кыргызстан, Казахстан</a:t>
            </a:r>
            <a:endParaRPr lang="en-US" sz="1600" dirty="0"/>
          </a:p>
        </p:txBody>
      </p:sp>
      <p:sp>
        <p:nvSpPr>
          <p:cNvPr id="5" name="card-68"/>
          <p:cNvSpPr/>
          <p:nvPr/>
        </p:nvSpPr>
        <p:spPr>
          <a:xfrm>
            <a:off x="812800" y="2413000"/>
            <a:ext cx="3384550" cy="2159000"/>
          </a:xfrm>
          <a:prstGeom prst="roundRect">
            <a:avLst>
              <a:gd name="adj" fmla="val 7059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6" name="text-69"/>
          <p:cNvSpPr txBox="1"/>
          <p:nvPr/>
        </p:nvSpPr>
        <p:spPr>
          <a:xfrm>
            <a:off x="1066800" y="2667000"/>
            <a:ext cx="287655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Сайт и SEO</a:t>
            </a:r>
            <a:endParaRPr lang="en-US" sz="1800" dirty="0"/>
          </a:p>
        </p:txBody>
      </p:sp>
      <p:sp>
        <p:nvSpPr>
          <p:cNvPr id="7" name="text-70"/>
          <p:cNvSpPr txBox="1"/>
          <p:nvPr/>
        </p:nvSpPr>
        <p:spPr>
          <a:xfrm>
            <a:off x="1066800" y="3149600"/>
            <a:ext cx="287655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Запустила рекламный сайт с нуля за 2 месяца. SEO и работа с GSC: +140% органики, ×2,3 заявок с сайта.</a:t>
            </a:r>
            <a:endParaRPr lang="en-US" sz="1400" dirty="0"/>
          </a:p>
        </p:txBody>
      </p:sp>
      <p:sp>
        <p:nvSpPr>
          <p:cNvPr id="8" name="card-71"/>
          <p:cNvSpPr/>
          <p:nvPr/>
        </p:nvSpPr>
        <p:spPr>
          <a:xfrm>
            <a:off x="4400550" y="2413000"/>
            <a:ext cx="3384550" cy="2159000"/>
          </a:xfrm>
          <a:prstGeom prst="roundRect">
            <a:avLst>
              <a:gd name="adj" fmla="val 7059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text-72"/>
          <p:cNvSpPr txBox="1"/>
          <p:nvPr/>
        </p:nvSpPr>
        <p:spPr>
          <a:xfrm>
            <a:off x="4654550" y="2667000"/>
            <a:ext cx="287655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Performance</a:t>
            </a:r>
            <a:endParaRPr lang="en-US" sz="1800" dirty="0"/>
          </a:p>
        </p:txBody>
      </p:sp>
      <p:sp>
        <p:nvSpPr>
          <p:cNvPr id="10" name="text-73"/>
          <p:cNvSpPr txBox="1"/>
          <p:nvPr/>
        </p:nvSpPr>
        <p:spPr>
          <a:xfrm>
            <a:off x="4654550" y="3149600"/>
            <a:ext cx="287655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Контекст, таргет, маркетплейсы, Лалафо, 2ГИС. Медиапланы и оптимизация: CPL −32%.</a:t>
            </a:r>
            <a:endParaRPr lang="en-US" sz="1400" dirty="0"/>
          </a:p>
        </p:txBody>
      </p:sp>
      <p:sp>
        <p:nvSpPr>
          <p:cNvPr id="11" name="card-74"/>
          <p:cNvSpPr/>
          <p:nvPr/>
        </p:nvSpPr>
        <p:spPr>
          <a:xfrm>
            <a:off x="7988300" y="2413000"/>
            <a:ext cx="3384550" cy="2159000"/>
          </a:xfrm>
          <a:prstGeom prst="roundRect">
            <a:avLst>
              <a:gd name="adj" fmla="val 7059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2" name="text-75"/>
          <p:cNvSpPr txBox="1"/>
          <p:nvPr/>
        </p:nvSpPr>
        <p:spPr>
          <a:xfrm>
            <a:off x="8242300" y="2667000"/>
            <a:ext cx="287655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Продажи и офлайн</a:t>
            </a:r>
            <a:endParaRPr lang="en-US" sz="1800" dirty="0"/>
          </a:p>
        </p:txBody>
      </p:sp>
      <p:sp>
        <p:nvSpPr>
          <p:cNvPr id="13" name="text-76"/>
          <p:cNvSpPr txBox="1"/>
          <p:nvPr/>
        </p:nvSpPr>
        <p:spPr>
          <a:xfrm>
            <a:off x="8242300" y="3149600"/>
            <a:ext cx="287655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Контроль отдела продаж, мероприятия, DOOH. Реферальная программа приводит 18% новых клиентов.</a:t>
            </a:r>
            <a:endParaRPr lang="en-US" sz="1400" dirty="0"/>
          </a:p>
        </p:txBody>
      </p:sp>
      <p:sp>
        <p:nvSpPr>
          <p:cNvPr id="14" name="text-77"/>
          <p:cNvSpPr txBox="1"/>
          <p:nvPr/>
        </p:nvSpPr>
        <p:spPr>
          <a:xfrm>
            <a:off x="812800" y="4953000"/>
            <a:ext cx="1056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Аналитика: GA, GSC, Яндекс Метрика. Ежемесячная отчётность по ключевым метрикам для руководства.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1468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12800" y="762000"/>
            <a:ext cx="1056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ОПЫТ · 2024–2025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812800" y="1117600"/>
            <a:ext cx="105664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Международный B2C: Booking Lane</a:t>
            </a:r>
            <a:endParaRPr lang="en-US" sz="3200" dirty="0"/>
          </a:p>
        </p:txBody>
      </p:sp>
      <p:sp>
        <p:nvSpPr>
          <p:cNvPr id="4" name="card-78"/>
          <p:cNvSpPr/>
          <p:nvPr/>
        </p:nvSpPr>
        <p:spPr>
          <a:xfrm>
            <a:off x="812800" y="2286000"/>
            <a:ext cx="6248400" cy="2540000"/>
          </a:xfrm>
          <a:prstGeom prst="roundRect">
            <a:avLst>
              <a:gd name="adj" fmla="val 6000"/>
            </a:avLst>
          </a:prstGeom>
          <a:solidFill>
            <a:schemeClr val="accent3"/>
          </a:solidFill>
          <a:ln/>
        </p:spPr>
      </p:sp>
      <p:sp>
        <p:nvSpPr>
          <p:cNvPr id="5" name="text-79"/>
          <p:cNvSpPr txBox="1"/>
          <p:nvPr/>
        </p:nvSpPr>
        <p:spPr>
          <a:xfrm>
            <a:off x="1117600" y="2590800"/>
            <a:ext cx="5638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Маркетолог, частичная занятость · премиальный букинг, США</a:t>
            </a:r>
            <a:endParaRPr lang="en-US" sz="1400" dirty="0"/>
          </a:p>
        </p:txBody>
      </p:sp>
      <p:sp>
        <p:nvSpPr>
          <p:cNvPr id="6" name="text-80"/>
          <p:cNvSpPr txBox="1"/>
          <p:nvPr/>
        </p:nvSpPr>
        <p:spPr>
          <a:xfrm>
            <a:off x="1117600" y="3302000"/>
            <a:ext cx="56388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Англоязычный рынок: исследование аудитории, медиапланы, контекст и таргет, SEO, отчётность по Google Analytics.</a:t>
            </a:r>
            <a:endParaRPr lang="en-US" sz="1600" dirty="0"/>
          </a:p>
        </p:txBody>
      </p:sp>
      <p:sp>
        <p:nvSpPr>
          <p:cNvPr id="7" name="card-81"/>
          <p:cNvSpPr/>
          <p:nvPr/>
        </p:nvSpPr>
        <p:spPr>
          <a:xfrm>
            <a:off x="7264400" y="2286000"/>
            <a:ext cx="2032000" cy="2540000"/>
          </a:xfrm>
          <a:prstGeom prst="roundRect">
            <a:avLst>
              <a:gd name="adj" fmla="val 7500"/>
            </a:avLst>
          </a:prstGeom>
          <a:solidFill>
            <a:schemeClr val="tx1"/>
          </a:solidFill>
          <a:ln/>
        </p:spPr>
      </p:sp>
      <p:sp>
        <p:nvSpPr>
          <p:cNvPr id="8" name="text-82"/>
          <p:cNvSpPr txBox="1"/>
          <p:nvPr/>
        </p:nvSpPr>
        <p:spPr>
          <a:xfrm>
            <a:off x="7518400" y="2857500"/>
            <a:ext cx="15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</a:t>
            </a:r>
            <a:endParaRPr lang="en-US" sz="3200" dirty="0"/>
          </a:p>
        </p:txBody>
      </p:sp>
      <p:sp>
        <p:nvSpPr>
          <p:cNvPr id="9" name="text-83"/>
          <p:cNvSpPr txBox="1"/>
          <p:nvPr/>
        </p:nvSpPr>
        <p:spPr>
          <a:xfrm>
            <a:off x="7518400" y="3619500"/>
            <a:ext cx="15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ROAS кампаний</a:t>
            </a:r>
            <a:endParaRPr lang="en-US" sz="1400" dirty="0"/>
          </a:p>
        </p:txBody>
      </p:sp>
      <p:sp>
        <p:nvSpPr>
          <p:cNvPr id="10" name="card-84"/>
          <p:cNvSpPr/>
          <p:nvPr/>
        </p:nvSpPr>
        <p:spPr>
          <a:xfrm>
            <a:off x="9398000" y="2286000"/>
            <a:ext cx="2032000" cy="2540000"/>
          </a:xfrm>
          <a:prstGeom prst="roundRect">
            <a:avLst>
              <a:gd name="adj" fmla="val 7500"/>
            </a:avLst>
          </a:prstGeom>
          <a:solidFill>
            <a:schemeClr val="tx1"/>
          </a:solidFill>
          <a:ln/>
        </p:spPr>
      </p:sp>
      <p:sp>
        <p:nvSpPr>
          <p:cNvPr id="11" name="text-85"/>
          <p:cNvSpPr txBox="1"/>
          <p:nvPr/>
        </p:nvSpPr>
        <p:spPr>
          <a:xfrm>
            <a:off x="9652000" y="2857500"/>
            <a:ext cx="15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+90%</a:t>
            </a:r>
            <a:endParaRPr lang="en-US" sz="3200" dirty="0"/>
          </a:p>
        </p:txBody>
      </p:sp>
      <p:sp>
        <p:nvSpPr>
          <p:cNvPr id="12" name="text-86"/>
          <p:cNvSpPr txBox="1"/>
          <p:nvPr/>
        </p:nvSpPr>
        <p:spPr>
          <a:xfrm>
            <a:off x="9652000" y="3619500"/>
            <a:ext cx="15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органики за 5 месяцев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1468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12800" y="762000"/>
            <a:ext cx="1056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КОМПЕТЕНЦИИ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812800" y="1117600"/>
            <a:ext cx="105664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я умею делать хорошо</a:t>
            </a:r>
            <a:endParaRPr lang="en-US" sz="3200" dirty="0"/>
          </a:p>
        </p:txBody>
      </p:sp>
      <p:sp>
        <p:nvSpPr>
          <p:cNvPr id="4" name="rule-87"/>
          <p:cNvSpPr/>
          <p:nvPr/>
        </p:nvSpPr>
        <p:spPr>
          <a:xfrm>
            <a:off x="812800" y="2413000"/>
            <a:ext cx="342265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5" name="text-88"/>
          <p:cNvSpPr txBox="1"/>
          <p:nvPr/>
        </p:nvSpPr>
        <p:spPr>
          <a:xfrm>
            <a:off x="812800" y="2565400"/>
            <a:ext cx="342265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SMM-стратегия</a:t>
            </a:r>
            <a:endParaRPr lang="en-US" sz="1800" dirty="0"/>
          </a:p>
        </p:txBody>
      </p:sp>
      <p:sp>
        <p:nvSpPr>
          <p:cNvPr id="6" name="text-89"/>
          <p:cNvSpPr txBox="1"/>
          <p:nvPr/>
        </p:nvSpPr>
        <p:spPr>
          <a:xfrm>
            <a:off x="812800" y="2946400"/>
            <a:ext cx="34226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Позиционирование, рубрикатор, контент-план на месяц</a:t>
            </a:r>
            <a:endParaRPr lang="en-US" sz="1400" dirty="0"/>
          </a:p>
        </p:txBody>
      </p:sp>
      <p:sp>
        <p:nvSpPr>
          <p:cNvPr id="7" name="rule-90"/>
          <p:cNvSpPr/>
          <p:nvPr/>
        </p:nvSpPr>
        <p:spPr>
          <a:xfrm>
            <a:off x="4387850" y="2413000"/>
            <a:ext cx="342265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8" name="text-91"/>
          <p:cNvSpPr txBox="1"/>
          <p:nvPr/>
        </p:nvSpPr>
        <p:spPr>
          <a:xfrm>
            <a:off x="4387850" y="2565400"/>
            <a:ext cx="342265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Короткие видео</a:t>
            </a:r>
            <a:endParaRPr lang="en-US" sz="1800" dirty="0"/>
          </a:p>
        </p:txBody>
      </p:sp>
      <p:sp>
        <p:nvSpPr>
          <p:cNvPr id="9" name="text-92"/>
          <p:cNvSpPr txBox="1"/>
          <p:nvPr/>
        </p:nvSpPr>
        <p:spPr>
          <a:xfrm>
            <a:off x="4387850" y="2946400"/>
            <a:ext cx="34226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Сценарии, съёмка и монтаж Reels, TikTok, Shorts</a:t>
            </a:r>
            <a:endParaRPr lang="en-US" sz="1400" dirty="0"/>
          </a:p>
        </p:txBody>
      </p:sp>
      <p:sp>
        <p:nvSpPr>
          <p:cNvPr id="10" name="rule-93"/>
          <p:cNvSpPr/>
          <p:nvPr/>
        </p:nvSpPr>
        <p:spPr>
          <a:xfrm>
            <a:off x="7962900" y="2413000"/>
            <a:ext cx="342265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11" name="text-94"/>
          <p:cNvSpPr txBox="1"/>
          <p:nvPr/>
        </p:nvSpPr>
        <p:spPr>
          <a:xfrm>
            <a:off x="7962900" y="2565400"/>
            <a:ext cx="342265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Тексты</a:t>
            </a:r>
            <a:endParaRPr lang="en-US" sz="1800" dirty="0"/>
          </a:p>
        </p:txBody>
      </p:sp>
      <p:sp>
        <p:nvSpPr>
          <p:cNvPr id="12" name="text-95"/>
          <p:cNvSpPr txBox="1"/>
          <p:nvPr/>
        </p:nvSpPr>
        <p:spPr>
          <a:xfrm>
            <a:off x="7962900" y="2946400"/>
            <a:ext cx="34226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Посты, карусели, Stories, Telegram, продающие тексты</a:t>
            </a:r>
            <a:endParaRPr lang="en-US" sz="1400" dirty="0"/>
          </a:p>
        </p:txBody>
      </p:sp>
      <p:sp>
        <p:nvSpPr>
          <p:cNvPr id="13" name="rule-96"/>
          <p:cNvSpPr/>
          <p:nvPr/>
        </p:nvSpPr>
        <p:spPr>
          <a:xfrm>
            <a:off x="812800" y="3937000"/>
            <a:ext cx="342265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14" name="text-97"/>
          <p:cNvSpPr txBox="1"/>
          <p:nvPr/>
        </p:nvSpPr>
        <p:spPr>
          <a:xfrm>
            <a:off x="812800" y="4089400"/>
            <a:ext cx="342265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Продвижение</a:t>
            </a:r>
            <a:endParaRPr lang="en-US" sz="1800" dirty="0"/>
          </a:p>
        </p:txBody>
      </p:sp>
      <p:sp>
        <p:nvSpPr>
          <p:cNvPr id="15" name="text-98"/>
          <p:cNvSpPr txBox="1"/>
          <p:nvPr/>
        </p:nvSpPr>
        <p:spPr>
          <a:xfrm>
            <a:off x="812800" y="4470400"/>
            <a:ext cx="34226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Таргет в Meta Ads, посевы, связка контента и продаж</a:t>
            </a:r>
            <a:endParaRPr lang="en-US" sz="1400" dirty="0"/>
          </a:p>
        </p:txBody>
      </p:sp>
      <p:sp>
        <p:nvSpPr>
          <p:cNvPr id="16" name="rule-99"/>
          <p:cNvSpPr/>
          <p:nvPr/>
        </p:nvSpPr>
        <p:spPr>
          <a:xfrm>
            <a:off x="4387850" y="3937000"/>
            <a:ext cx="342265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17" name="text-100"/>
          <p:cNvSpPr txBox="1"/>
          <p:nvPr/>
        </p:nvSpPr>
        <p:spPr>
          <a:xfrm>
            <a:off x="4387850" y="4089400"/>
            <a:ext cx="342265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Аналитика</a:t>
            </a:r>
            <a:endParaRPr lang="en-US" sz="1800" dirty="0"/>
          </a:p>
        </p:txBody>
      </p:sp>
      <p:sp>
        <p:nvSpPr>
          <p:cNvPr id="18" name="text-101"/>
          <p:cNvSpPr txBox="1"/>
          <p:nvPr/>
        </p:nvSpPr>
        <p:spPr>
          <a:xfrm>
            <a:off x="4387850" y="4470400"/>
            <a:ext cx="34226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Статистика площадок, GA, гипотезы и A/B-тесты форматов</a:t>
            </a:r>
            <a:endParaRPr lang="en-US" sz="1400" dirty="0"/>
          </a:p>
        </p:txBody>
      </p:sp>
      <p:sp>
        <p:nvSpPr>
          <p:cNvPr id="19" name="rule-102"/>
          <p:cNvSpPr/>
          <p:nvPr/>
        </p:nvSpPr>
        <p:spPr>
          <a:xfrm>
            <a:off x="7962900" y="3937000"/>
            <a:ext cx="342265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20" name="text-103"/>
          <p:cNvSpPr txBox="1"/>
          <p:nvPr/>
        </p:nvSpPr>
        <p:spPr>
          <a:xfrm>
            <a:off x="7962900" y="4089400"/>
            <a:ext cx="342265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Командная работа</a:t>
            </a:r>
            <a:endParaRPr lang="en-US" sz="1800" dirty="0"/>
          </a:p>
        </p:txBody>
      </p:sp>
      <p:sp>
        <p:nvSpPr>
          <p:cNvPr id="21" name="text-104"/>
          <p:cNvSpPr txBox="1"/>
          <p:nvPr/>
        </p:nvSpPr>
        <p:spPr>
          <a:xfrm>
            <a:off x="7962900" y="4470400"/>
            <a:ext cx="34226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Руководила digital-командой, работала с дизайнерами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1468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12800" y="762000"/>
            <a:ext cx="1056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ИНСТРУМЕНТЫ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812800" y="1117600"/>
            <a:ext cx="105664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Рабочий стек</a:t>
            </a:r>
            <a:endParaRPr lang="en-US" sz="3200" dirty="0"/>
          </a:p>
        </p:txBody>
      </p:sp>
      <p:sp>
        <p:nvSpPr>
          <p:cNvPr id="5" name="text-105"/>
          <p:cNvSpPr txBox="1"/>
          <p:nvPr/>
        </p:nvSpPr>
        <p:spPr>
          <a:xfrm>
            <a:off x="812800" y="2489200"/>
            <a:ext cx="203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Площадки</a:t>
            </a:r>
            <a:endParaRPr lang="en-US" sz="1400" dirty="0"/>
          </a:p>
        </p:txBody>
      </p:sp>
      <p:sp>
        <p:nvSpPr>
          <p:cNvPr id="6" name="pill-106"/>
          <p:cNvSpPr/>
          <p:nvPr/>
        </p:nvSpPr>
        <p:spPr>
          <a:xfrm>
            <a:off x="3048000" y="2413000"/>
            <a:ext cx="1098550" cy="3810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7" name="text-107"/>
          <p:cNvSpPr txBox="1"/>
          <p:nvPr/>
        </p:nvSpPr>
        <p:spPr>
          <a:xfrm>
            <a:off x="3048000" y="2413000"/>
            <a:ext cx="1098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Instagram</a:t>
            </a:r>
            <a:endParaRPr lang="en-US" sz="1300" dirty="0"/>
          </a:p>
        </p:txBody>
      </p:sp>
      <p:sp>
        <p:nvSpPr>
          <p:cNvPr id="8" name="pill-108"/>
          <p:cNvSpPr/>
          <p:nvPr/>
        </p:nvSpPr>
        <p:spPr>
          <a:xfrm>
            <a:off x="4248150" y="2413000"/>
            <a:ext cx="850900" cy="3810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9" name="text-109"/>
          <p:cNvSpPr txBox="1"/>
          <p:nvPr/>
        </p:nvSpPr>
        <p:spPr>
          <a:xfrm>
            <a:off x="4248150" y="2413000"/>
            <a:ext cx="850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TikTok</a:t>
            </a:r>
            <a:endParaRPr lang="en-US" sz="1300" dirty="0"/>
          </a:p>
        </p:txBody>
      </p:sp>
      <p:sp>
        <p:nvSpPr>
          <p:cNvPr id="10" name="pill-110"/>
          <p:cNvSpPr/>
          <p:nvPr/>
        </p:nvSpPr>
        <p:spPr>
          <a:xfrm>
            <a:off x="5200650" y="2413000"/>
            <a:ext cx="1016000" cy="3810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11" name="text-111"/>
          <p:cNvSpPr txBox="1"/>
          <p:nvPr/>
        </p:nvSpPr>
        <p:spPr>
          <a:xfrm>
            <a:off x="5200650" y="2413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Facebook</a:t>
            </a:r>
            <a:endParaRPr lang="en-US" sz="1300" dirty="0"/>
          </a:p>
        </p:txBody>
      </p:sp>
      <p:sp>
        <p:nvSpPr>
          <p:cNvPr id="12" name="pill-112"/>
          <p:cNvSpPr/>
          <p:nvPr/>
        </p:nvSpPr>
        <p:spPr>
          <a:xfrm>
            <a:off x="6318250" y="2413000"/>
            <a:ext cx="1016000" cy="3810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13" name="text-113"/>
          <p:cNvSpPr txBox="1"/>
          <p:nvPr/>
        </p:nvSpPr>
        <p:spPr>
          <a:xfrm>
            <a:off x="6318250" y="2413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Telegram</a:t>
            </a:r>
            <a:endParaRPr lang="en-US" sz="1300" dirty="0"/>
          </a:p>
        </p:txBody>
      </p:sp>
      <p:sp>
        <p:nvSpPr>
          <p:cNvPr id="14" name="pill-114"/>
          <p:cNvSpPr/>
          <p:nvPr/>
        </p:nvSpPr>
        <p:spPr>
          <a:xfrm>
            <a:off x="7435850" y="2413000"/>
            <a:ext cx="1511300" cy="3810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15" name="text-115"/>
          <p:cNvSpPr txBox="1"/>
          <p:nvPr/>
        </p:nvSpPr>
        <p:spPr>
          <a:xfrm>
            <a:off x="7435850" y="2413000"/>
            <a:ext cx="1511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YouTube Shorts</a:t>
            </a:r>
            <a:endParaRPr lang="en-US" sz="1300" dirty="0"/>
          </a:p>
        </p:txBody>
      </p:sp>
      <p:sp>
        <p:nvSpPr>
          <p:cNvPr id="16" name="pill-116"/>
          <p:cNvSpPr/>
          <p:nvPr/>
        </p:nvSpPr>
        <p:spPr>
          <a:xfrm>
            <a:off x="9048750" y="2413000"/>
            <a:ext cx="933450" cy="3810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17" name="text-117"/>
          <p:cNvSpPr txBox="1"/>
          <p:nvPr/>
        </p:nvSpPr>
        <p:spPr>
          <a:xfrm>
            <a:off x="9048750" y="2413000"/>
            <a:ext cx="933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Threads</a:t>
            </a:r>
            <a:endParaRPr lang="en-US" sz="1300" dirty="0"/>
          </a:p>
        </p:txBody>
      </p:sp>
      <p:sp>
        <p:nvSpPr>
          <p:cNvPr id="18" name="text-118"/>
          <p:cNvSpPr txBox="1"/>
          <p:nvPr/>
        </p:nvSpPr>
        <p:spPr>
          <a:xfrm>
            <a:off x="812800" y="3378200"/>
            <a:ext cx="203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Контент и видео</a:t>
            </a:r>
            <a:endParaRPr lang="en-US" sz="1400" dirty="0"/>
          </a:p>
        </p:txBody>
      </p:sp>
      <p:sp>
        <p:nvSpPr>
          <p:cNvPr id="19" name="pill-119"/>
          <p:cNvSpPr/>
          <p:nvPr/>
        </p:nvSpPr>
        <p:spPr>
          <a:xfrm>
            <a:off x="3048000" y="3302000"/>
            <a:ext cx="768350" cy="381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0" name="text-120"/>
          <p:cNvSpPr txBox="1"/>
          <p:nvPr/>
        </p:nvSpPr>
        <p:spPr>
          <a:xfrm>
            <a:off x="3048000" y="3302000"/>
            <a:ext cx="768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Figma</a:t>
            </a:r>
            <a:endParaRPr lang="en-US" sz="1300" dirty="0"/>
          </a:p>
        </p:txBody>
      </p:sp>
      <p:sp>
        <p:nvSpPr>
          <p:cNvPr id="21" name="pill-121"/>
          <p:cNvSpPr/>
          <p:nvPr/>
        </p:nvSpPr>
        <p:spPr>
          <a:xfrm>
            <a:off x="3917950" y="3302000"/>
            <a:ext cx="1016000" cy="381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2" name="text-122"/>
          <p:cNvSpPr txBox="1"/>
          <p:nvPr/>
        </p:nvSpPr>
        <p:spPr>
          <a:xfrm>
            <a:off x="3917950" y="3302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[CapCut]</a:t>
            </a:r>
            <a:endParaRPr lang="en-US" sz="1300" dirty="0"/>
          </a:p>
        </p:txBody>
      </p:sp>
      <p:sp>
        <p:nvSpPr>
          <p:cNvPr id="23" name="pill-123"/>
          <p:cNvSpPr/>
          <p:nvPr/>
        </p:nvSpPr>
        <p:spPr>
          <a:xfrm>
            <a:off x="5035550" y="3302000"/>
            <a:ext cx="933450" cy="381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4" name="text-124"/>
          <p:cNvSpPr txBox="1"/>
          <p:nvPr/>
        </p:nvSpPr>
        <p:spPr>
          <a:xfrm>
            <a:off x="5035550" y="3302000"/>
            <a:ext cx="933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[Canva]</a:t>
            </a:r>
            <a:endParaRPr lang="en-US" sz="1300" dirty="0"/>
          </a:p>
        </p:txBody>
      </p:sp>
      <p:sp>
        <p:nvSpPr>
          <p:cNvPr id="25" name="pill-125"/>
          <p:cNvSpPr/>
          <p:nvPr/>
        </p:nvSpPr>
        <p:spPr>
          <a:xfrm>
            <a:off x="6070600" y="3302000"/>
            <a:ext cx="1924050" cy="381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6" name="text-126"/>
          <p:cNvSpPr txBox="1"/>
          <p:nvPr/>
        </p:nvSpPr>
        <p:spPr>
          <a:xfrm>
            <a:off x="6070600" y="3302000"/>
            <a:ext cx="1924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[Premiere / InShot]</a:t>
            </a:r>
            <a:endParaRPr lang="en-US" sz="1300" dirty="0"/>
          </a:p>
        </p:txBody>
      </p:sp>
      <p:sp>
        <p:nvSpPr>
          <p:cNvPr id="27" name="text-127"/>
          <p:cNvSpPr txBox="1"/>
          <p:nvPr/>
        </p:nvSpPr>
        <p:spPr>
          <a:xfrm>
            <a:off x="812800" y="4267200"/>
            <a:ext cx="203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Реклама и данные</a:t>
            </a:r>
            <a:endParaRPr lang="en-US" sz="1400" dirty="0"/>
          </a:p>
        </p:txBody>
      </p:sp>
      <p:sp>
        <p:nvSpPr>
          <p:cNvPr id="28" name="pill-128"/>
          <p:cNvSpPr/>
          <p:nvPr/>
        </p:nvSpPr>
        <p:spPr>
          <a:xfrm>
            <a:off x="3048000" y="4191000"/>
            <a:ext cx="1016000" cy="381000"/>
          </a:xfrm>
          <a:prstGeom prst="roundRect">
            <a:avLst>
              <a:gd name="adj" fmla="val 50000"/>
            </a:avLst>
          </a:prstGeom>
          <a:ln w="19050">
            <a:solidFill>
              <a:schemeClr val="tx1"/>
            </a:solidFill>
            <a:prstDash val="solid"/>
          </a:ln>
        </p:spPr>
      </p:sp>
      <p:sp>
        <p:nvSpPr>
          <p:cNvPr id="29" name="text-129"/>
          <p:cNvSpPr txBox="1"/>
          <p:nvPr/>
        </p:nvSpPr>
        <p:spPr>
          <a:xfrm>
            <a:off x="3048000" y="4191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Meta Ads</a:t>
            </a:r>
            <a:endParaRPr lang="en-US" sz="1300" dirty="0"/>
          </a:p>
        </p:txBody>
      </p:sp>
      <p:sp>
        <p:nvSpPr>
          <p:cNvPr id="30" name="pill-130"/>
          <p:cNvSpPr/>
          <p:nvPr/>
        </p:nvSpPr>
        <p:spPr>
          <a:xfrm>
            <a:off x="4165600" y="4191000"/>
            <a:ext cx="1181100" cy="381000"/>
          </a:xfrm>
          <a:prstGeom prst="roundRect">
            <a:avLst>
              <a:gd name="adj" fmla="val 50000"/>
            </a:avLst>
          </a:prstGeom>
          <a:ln w="19050">
            <a:solidFill>
              <a:schemeClr val="tx1"/>
            </a:solidFill>
            <a:prstDash val="solid"/>
          </a:ln>
        </p:spPr>
      </p:sp>
      <p:sp>
        <p:nvSpPr>
          <p:cNvPr id="31" name="text-131"/>
          <p:cNvSpPr txBox="1"/>
          <p:nvPr/>
        </p:nvSpPr>
        <p:spPr>
          <a:xfrm>
            <a:off x="4165600" y="4191000"/>
            <a:ext cx="1181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Google Ads</a:t>
            </a:r>
            <a:endParaRPr lang="en-US" sz="1300" dirty="0"/>
          </a:p>
        </p:txBody>
      </p:sp>
      <p:sp>
        <p:nvSpPr>
          <p:cNvPr id="32" name="pill-132"/>
          <p:cNvSpPr/>
          <p:nvPr/>
        </p:nvSpPr>
        <p:spPr>
          <a:xfrm>
            <a:off x="5448300" y="4191000"/>
            <a:ext cx="1676400" cy="381000"/>
          </a:xfrm>
          <a:prstGeom prst="roundRect">
            <a:avLst>
              <a:gd name="adj" fmla="val 50000"/>
            </a:avLst>
          </a:prstGeom>
          <a:ln w="19050">
            <a:solidFill>
              <a:schemeClr val="tx1"/>
            </a:solidFill>
            <a:prstDash val="solid"/>
          </a:ln>
        </p:spPr>
      </p:sp>
      <p:sp>
        <p:nvSpPr>
          <p:cNvPr id="33" name="text-133"/>
          <p:cNvSpPr txBox="1"/>
          <p:nvPr/>
        </p:nvSpPr>
        <p:spPr>
          <a:xfrm>
            <a:off x="5448300" y="4191000"/>
            <a:ext cx="167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Google Analytics</a:t>
            </a:r>
            <a:endParaRPr lang="en-US" sz="1300" dirty="0"/>
          </a:p>
        </p:txBody>
      </p:sp>
      <p:sp>
        <p:nvSpPr>
          <p:cNvPr id="34" name="pill-134"/>
          <p:cNvSpPr/>
          <p:nvPr/>
        </p:nvSpPr>
        <p:spPr>
          <a:xfrm>
            <a:off x="7226300" y="4191000"/>
            <a:ext cx="850900" cy="381000"/>
          </a:xfrm>
          <a:prstGeom prst="roundRect">
            <a:avLst>
              <a:gd name="adj" fmla="val 50000"/>
            </a:avLst>
          </a:prstGeom>
          <a:ln w="19050">
            <a:solidFill>
              <a:schemeClr val="tx1"/>
            </a:solidFill>
            <a:prstDash val="solid"/>
          </a:ln>
        </p:spPr>
      </p:sp>
      <p:sp>
        <p:nvSpPr>
          <p:cNvPr id="35" name="text-135"/>
          <p:cNvSpPr txBox="1"/>
          <p:nvPr/>
        </p:nvSpPr>
        <p:spPr>
          <a:xfrm>
            <a:off x="7226300" y="4191000"/>
            <a:ext cx="850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Hotjar</a:t>
            </a:r>
            <a:endParaRPr lang="en-US" sz="1300" dirty="0"/>
          </a:p>
        </p:txBody>
      </p:sp>
      <p:sp>
        <p:nvSpPr>
          <p:cNvPr id="36" name="pill-136"/>
          <p:cNvSpPr/>
          <p:nvPr/>
        </p:nvSpPr>
        <p:spPr>
          <a:xfrm>
            <a:off x="8178800" y="4191000"/>
            <a:ext cx="850900" cy="381000"/>
          </a:xfrm>
          <a:prstGeom prst="roundRect">
            <a:avLst>
              <a:gd name="adj" fmla="val 50000"/>
            </a:avLst>
          </a:prstGeom>
          <a:ln w="19050">
            <a:solidFill>
              <a:schemeClr val="tx1"/>
            </a:solidFill>
            <a:prstDash val="solid"/>
          </a:ln>
        </p:spPr>
      </p:sp>
      <p:sp>
        <p:nvSpPr>
          <p:cNvPr id="37" name="text-137"/>
          <p:cNvSpPr txBox="1"/>
          <p:nvPr/>
        </p:nvSpPr>
        <p:spPr>
          <a:xfrm>
            <a:off x="8178800" y="4191000"/>
            <a:ext cx="850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Notion</a:t>
            </a:r>
            <a:endParaRPr lang="en-US" sz="1300" dirty="0"/>
          </a:p>
        </p:txBody>
      </p:sp>
      <p:sp>
        <p:nvSpPr>
          <p:cNvPr id="38" name="pill-138"/>
          <p:cNvSpPr/>
          <p:nvPr/>
        </p:nvSpPr>
        <p:spPr>
          <a:xfrm>
            <a:off x="9131300" y="4191000"/>
            <a:ext cx="685800" cy="381000"/>
          </a:xfrm>
          <a:prstGeom prst="roundRect">
            <a:avLst>
              <a:gd name="adj" fmla="val 50000"/>
            </a:avLst>
          </a:prstGeom>
          <a:ln w="19050">
            <a:solidFill>
              <a:schemeClr val="tx1"/>
            </a:solidFill>
            <a:prstDash val="solid"/>
          </a:ln>
        </p:spPr>
      </p:sp>
      <p:sp>
        <p:nvSpPr>
          <p:cNvPr id="39" name="text-139"/>
          <p:cNvSpPr txBox="1"/>
          <p:nvPr/>
        </p:nvSpPr>
        <p:spPr>
          <a:xfrm>
            <a:off x="9131300" y="4191000"/>
            <a:ext cx="685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Miro</a:t>
            </a:r>
            <a:endParaRPr lang="en-US" sz="1300" dirty="0"/>
          </a:p>
        </p:txBody>
      </p:sp>
      <p:sp>
        <p:nvSpPr>
          <p:cNvPr id="40" name="pill-140"/>
          <p:cNvSpPr/>
          <p:nvPr/>
        </p:nvSpPr>
        <p:spPr>
          <a:xfrm>
            <a:off x="9918700" y="4191000"/>
            <a:ext cx="850900" cy="381000"/>
          </a:xfrm>
          <a:prstGeom prst="roundRect">
            <a:avLst>
              <a:gd name="adj" fmla="val 50000"/>
            </a:avLst>
          </a:prstGeom>
          <a:ln w="19050">
            <a:solidFill>
              <a:schemeClr val="tx1"/>
            </a:solidFill>
            <a:prstDash val="solid"/>
          </a:ln>
        </p:spPr>
      </p:sp>
      <p:sp>
        <p:nvSpPr>
          <p:cNvPr id="41" name="text-141"/>
          <p:cNvSpPr txBox="1"/>
          <p:nvPr/>
        </p:nvSpPr>
        <p:spPr>
          <a:xfrm>
            <a:off x="9918700" y="4191000"/>
            <a:ext cx="850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Trello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1468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12800" y="762000"/>
            <a:ext cx="1056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ПЛАН ДЛЯ KOVER SCHOOL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812800" y="1117600"/>
            <a:ext cx="105664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Первые 60 дней в роли</a:t>
            </a:r>
            <a:endParaRPr lang="en-US" sz="3200" dirty="0"/>
          </a:p>
        </p:txBody>
      </p:sp>
      <p:sp>
        <p:nvSpPr>
          <p:cNvPr id="4" name="card-142"/>
          <p:cNvSpPr/>
          <p:nvPr/>
        </p:nvSpPr>
        <p:spPr>
          <a:xfrm>
            <a:off x="812800" y="2286000"/>
            <a:ext cx="3384550" cy="2476500"/>
          </a:xfrm>
          <a:prstGeom prst="roundRect">
            <a:avLst>
              <a:gd name="adj" fmla="val 6154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text-143"/>
          <p:cNvSpPr txBox="1"/>
          <p:nvPr/>
        </p:nvSpPr>
        <p:spPr>
          <a:xfrm>
            <a:off x="1066800" y="2540000"/>
            <a:ext cx="2876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НЕДЕЛИ 1–2</a:t>
            </a:r>
            <a:endParaRPr lang="en-US" sz="1200" dirty="0"/>
          </a:p>
        </p:txBody>
      </p:sp>
      <p:sp>
        <p:nvSpPr>
          <p:cNvPr id="6" name="text-144"/>
          <p:cNvSpPr txBox="1"/>
          <p:nvPr/>
        </p:nvSpPr>
        <p:spPr>
          <a:xfrm>
            <a:off x="1066800" y="2844800"/>
            <a:ext cx="287655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Аудит</a:t>
            </a:r>
            <a:endParaRPr lang="en-US" sz="1800" dirty="0"/>
          </a:p>
        </p:txBody>
      </p:sp>
      <p:sp>
        <p:nvSpPr>
          <p:cNvPr id="7" name="text-145"/>
          <p:cNvSpPr txBox="1"/>
          <p:nvPr/>
        </p:nvSpPr>
        <p:spPr>
          <a:xfrm>
            <a:off x="1066800" y="3302000"/>
            <a:ext cx="28765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Разбор всех 6 площадок, аудитории и конкурентов в EdTech. Рубрикатор и контент-план.</a:t>
            </a:r>
            <a:endParaRPr lang="en-US" sz="1400" dirty="0"/>
          </a:p>
        </p:txBody>
      </p:sp>
      <p:sp>
        <p:nvSpPr>
          <p:cNvPr id="8" name="card-146"/>
          <p:cNvSpPr/>
          <p:nvPr/>
        </p:nvSpPr>
        <p:spPr>
          <a:xfrm>
            <a:off x="4400550" y="2286000"/>
            <a:ext cx="3384550" cy="2476500"/>
          </a:xfrm>
          <a:prstGeom prst="roundRect">
            <a:avLst>
              <a:gd name="adj" fmla="val 6154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text-147"/>
          <p:cNvSpPr txBox="1"/>
          <p:nvPr/>
        </p:nvSpPr>
        <p:spPr>
          <a:xfrm>
            <a:off x="4654550" y="2540000"/>
            <a:ext cx="2876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НЕДЕЛИ 3–6</a:t>
            </a:r>
            <a:endParaRPr lang="en-US" sz="1200" dirty="0"/>
          </a:p>
        </p:txBody>
      </p:sp>
      <p:sp>
        <p:nvSpPr>
          <p:cNvPr id="10" name="text-148"/>
          <p:cNvSpPr txBox="1"/>
          <p:nvPr/>
        </p:nvSpPr>
        <p:spPr>
          <a:xfrm>
            <a:off x="4654550" y="2844800"/>
            <a:ext cx="287655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Тест форматов</a:t>
            </a:r>
            <a:endParaRPr lang="en-US" sz="1800" dirty="0"/>
          </a:p>
        </p:txBody>
      </p:sp>
      <p:sp>
        <p:nvSpPr>
          <p:cNvPr id="11" name="text-149"/>
          <p:cNvSpPr txBox="1"/>
          <p:nvPr/>
        </p:nvSpPr>
        <p:spPr>
          <a:xfrm>
            <a:off x="4654550" y="3302000"/>
            <a:ext cx="28765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3–4 Reels/TikTok в неделю: экспертные, трендовые, отзывы учеников. Личный бренд преподавателей.</a:t>
            </a:r>
            <a:endParaRPr lang="en-US" sz="1400" dirty="0"/>
          </a:p>
        </p:txBody>
      </p:sp>
      <p:sp>
        <p:nvSpPr>
          <p:cNvPr id="12" name="card-150"/>
          <p:cNvSpPr/>
          <p:nvPr/>
        </p:nvSpPr>
        <p:spPr>
          <a:xfrm>
            <a:off x="7988300" y="2286000"/>
            <a:ext cx="3384550" cy="2476500"/>
          </a:xfrm>
          <a:prstGeom prst="roundRect">
            <a:avLst>
              <a:gd name="adj" fmla="val 6154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3" name="text-151"/>
          <p:cNvSpPr txBox="1"/>
          <p:nvPr/>
        </p:nvSpPr>
        <p:spPr>
          <a:xfrm>
            <a:off x="8242300" y="2540000"/>
            <a:ext cx="2876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НЕДЕЛИ 7–8</a:t>
            </a:r>
            <a:endParaRPr lang="en-US" sz="1200" dirty="0"/>
          </a:p>
        </p:txBody>
      </p:sp>
      <p:sp>
        <p:nvSpPr>
          <p:cNvPr id="14" name="text-152"/>
          <p:cNvSpPr txBox="1"/>
          <p:nvPr/>
        </p:nvSpPr>
        <p:spPr>
          <a:xfrm>
            <a:off x="8242300" y="2844800"/>
            <a:ext cx="287655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Масштаб</a:t>
            </a:r>
            <a:endParaRPr lang="en-US" sz="1800" dirty="0"/>
          </a:p>
        </p:txBody>
      </p:sp>
      <p:sp>
        <p:nvSpPr>
          <p:cNvPr id="15" name="text-153"/>
          <p:cNvSpPr txBox="1"/>
          <p:nvPr/>
        </p:nvSpPr>
        <p:spPr>
          <a:xfrm>
            <a:off x="8242300" y="3302000"/>
            <a:ext cx="28765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Усиливаю лучшие форматы, связываю контент с заявками на курсы, отчёт по KPI.</a:t>
            </a:r>
            <a:endParaRPr lang="en-US" sz="1400" dirty="0"/>
          </a:p>
        </p:txBody>
      </p:sp>
      <p:sp>
        <p:nvSpPr>
          <p:cNvPr id="16" name="text-154"/>
          <p:cNvSpPr txBox="1"/>
          <p:nvPr/>
        </p:nvSpPr>
        <p:spPr>
          <a:xfrm>
            <a:off x="812800" y="5080000"/>
            <a:ext cx="1056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Опыт с экспертным контентом, чешский и русский языки, понимание связки «контент → продажи».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1468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55"/>
          <p:cNvSpPr txBox="1"/>
          <p:nvPr/>
        </p:nvSpPr>
        <p:spPr>
          <a:xfrm>
            <a:off x="812800" y="1587500"/>
            <a:ext cx="508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2"/>
                </a:solidFill>
              </a:rPr>
              <a:t>КОНТАКТЫ</a:t>
            </a:r>
            <a:endParaRPr lang="en-US" sz="1400" dirty="0"/>
          </a:p>
        </p:txBody>
      </p:sp>
      <p:sp>
        <p:nvSpPr>
          <p:cNvPr id="3" name="text-156"/>
          <p:cNvSpPr txBox="1"/>
          <p:nvPr/>
        </p:nvSpPr>
        <p:spPr>
          <a:xfrm>
            <a:off x="812800" y="2032000"/>
            <a:ext cx="105664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Давайте обсудим,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вырастить ваш маркетинг</a:t>
            </a:r>
            <a:endParaRPr lang="en-US" sz="4400" dirty="0"/>
          </a:p>
        </p:txBody>
      </p:sp>
      <p:sp>
        <p:nvSpPr>
          <p:cNvPr id="4" name="pill-157"/>
          <p:cNvSpPr/>
          <p:nvPr/>
        </p:nvSpPr>
        <p:spPr>
          <a:xfrm>
            <a:off x="812800" y="3937000"/>
            <a:ext cx="2286000" cy="381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5" name="text-158"/>
          <p:cNvSpPr txBox="1"/>
          <p:nvPr/>
        </p:nvSpPr>
        <p:spPr>
          <a:xfrm>
            <a:off x="812800" y="3937000"/>
            <a:ext cx="228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+420 777 987 587</a:t>
            </a:r>
            <a:endParaRPr lang="en-US" sz="1300" dirty="0"/>
          </a:p>
        </p:txBody>
      </p:sp>
      <p:sp>
        <p:nvSpPr>
          <p:cNvPr id="6" name="pill-159"/>
          <p:cNvSpPr/>
          <p:nvPr/>
        </p:nvSpPr>
        <p:spPr>
          <a:xfrm>
            <a:off x="3251200" y="3937000"/>
            <a:ext cx="3175000" cy="381000"/>
          </a:xfrm>
          <a:prstGeom prst="roundRect">
            <a:avLst>
              <a:gd name="adj" fmla="val 50000"/>
            </a:avLst>
          </a:prstGeom>
          <a:ln w="19050">
            <a:solidFill>
              <a:schemeClr val="bg1"/>
            </a:solidFill>
            <a:prstDash val="solid"/>
          </a:ln>
        </p:spPr>
      </p:sp>
      <p:sp>
        <p:nvSpPr>
          <p:cNvPr id="7" name="text-160"/>
          <p:cNvSpPr txBox="1"/>
          <p:nvPr/>
        </p:nvSpPr>
        <p:spPr>
          <a:xfrm>
            <a:off x="3251200" y="3937000"/>
            <a:ext cx="317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melissakiiiiim@gmail.com</a:t>
            </a:r>
            <a:endParaRPr lang="en-US" sz="1300" dirty="0"/>
          </a:p>
        </p:txBody>
      </p:sp>
      <p:sp>
        <p:nvSpPr>
          <p:cNvPr id="8" name="text-161"/>
          <p:cNvSpPr txBox="1"/>
          <p:nvPr/>
        </p:nvSpPr>
        <p:spPr>
          <a:xfrm>
            <a:off x="812800" y="4635500"/>
            <a:ext cx="635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Мелисса Кангельдиева · Прага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angeldieva SMM">
  <a:themeElements>
    <a:clrScheme name="Kangeldieva SMM">
      <a:dk1>
        <a:srgbClr val="17162B"/>
      </a:dk1>
      <a:lt1>
        <a:srgbClr val="F5F1EA"/>
      </a:lt1>
      <a:dk2>
        <a:srgbClr val="4A4858"/>
      </a:dk2>
      <a:lt2>
        <a:srgbClr val="ECE6DB"/>
      </a:lt2>
      <a:accent1>
        <a:srgbClr val="C4441F"/>
      </a:accent1>
      <a:accent2>
        <a:srgbClr val="FF8A5B"/>
      </a:accent2>
      <a:accent3>
        <a:srgbClr val="FBF9F5"/>
      </a:accent3>
      <a:accent4>
        <a:srgbClr val="E2DBCF"/>
      </a:accent4>
      <a:accent5>
        <a:srgbClr val="6B6478"/>
      </a:accent5>
      <a:accent6>
        <a:srgbClr val="C9C5D6"/>
      </a:accent6>
      <a:hlink>
        <a:srgbClr val="C4441F"/>
      </a:hlink>
      <a:folHlink>
        <a:srgbClr val="6B6478"/>
      </a:folHlink>
    </a:clrScheme>
    <a:fontScheme name="Kangeldieva SMM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Мелисса Кангельдиева — SMM</dc:title>
  <dc:subject>PptxGenJS Presentation</dc:subject>
  <dc:creator>Мелисса Кангельдиева</dc:creator>
  <cp:lastModifiedBy>Мелисса Кангельдиева</cp:lastModifiedBy>
  <cp:revision>1</cp:revision>
  <dcterms:created xsi:type="dcterms:W3CDTF">2026-10-03T19:23:52Z</dcterms:created>
  <dcterms:modified xsi:type="dcterms:W3CDTF">2026-10-03T19:23:52Z</dcterms:modified>
</cp:coreProperties>
</file>