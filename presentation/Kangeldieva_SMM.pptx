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то я" id="{1c131640-0572-2375-8759-d2e0d6148f32}">
          <p14:sldIdLst>
            <p14:sldId id="256"/>
            <p14:sldId id="257"/>
          </p14:sldIdLst>
        </p14:section>
        <p14:section name="Результаты и опыт" id="{4217deab-0574-941e-8aec-015a2d56393e}">
          <p14:sldIdLst>
            <p14:sldId id="258"/>
            <p14:sldId id="259"/>
            <p14:sldId id="260"/>
            <p14:sldId id="261"/>
          </p14:sldIdLst>
        </p14:section>
        <p14:section name="Компетенции" id="{67e2439b-c6d5-864b-bc57-051ab45478da}">
          <p14:sldIdLst>
            <p14:sldId id="262"/>
            <p14:sldId id="263"/>
          </p14:sldIdLst>
        </p14:section>
        <p14:section name="План и контакты" id="{5cbd5e28-f723-a63c-703b-b25a540843ad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Короткое представление: имя, специализация, площадки. Плейсхолдер справа заменить на фото.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1468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Мелисса Кангельдиева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L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1468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Мелисса Кангельдиева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1468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Мелисса Кангельдиева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812800" y="15875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SMM-МЕНЕДЖЕР · 3+ ГОДА ОПЫТА</a:t>
            </a:r>
            <a:endParaRPr lang="en-US" sz="1400" dirty="0"/>
          </a:p>
        </p:txBody>
      </p:sp>
      <p:sp>
        <p:nvSpPr>
          <p:cNvPr id="3" name="text-2"/>
          <p:cNvSpPr txBox="1"/>
          <p:nvPr/>
        </p:nvSpPr>
        <p:spPr>
          <a:xfrm>
            <a:off x="812800" y="2032000"/>
            <a:ext cx="66675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Мелисса</a:t>
            </a:r>
            <a:endParaRPr lang="en-US" sz="5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Кангельдиева</a:t>
            </a:r>
            <a:endParaRPr lang="en-US" sz="5200" dirty="0"/>
          </a:p>
        </p:txBody>
      </p:sp>
      <p:sp>
        <p:nvSpPr>
          <p:cNvPr id="4" name="text-3"/>
          <p:cNvSpPr txBox="1"/>
          <p:nvPr/>
        </p:nvSpPr>
        <p:spPr>
          <a:xfrm>
            <a:off x="812800" y="3873500"/>
            <a:ext cx="6350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tx2"/>
                </a:solidFill>
              </a:rPr>
              <a:t>Instagram · TikTok · Telegram · Facebook · Threads. Стратегия, сценарии, съёмка и монтаж коротких видео.</a:t>
            </a:r>
            <a:endParaRPr lang="en-US" sz="2000" dirty="0"/>
          </a:p>
        </p:txBody>
      </p:sp>
      <p:sp>
        <p:nvSpPr>
          <p:cNvPr id="5" name="pill-4"/>
          <p:cNvSpPr/>
          <p:nvPr/>
        </p:nvSpPr>
        <p:spPr>
          <a:xfrm>
            <a:off x="812800" y="5143500"/>
            <a:ext cx="20955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6" name="text-5"/>
          <p:cNvSpPr txBox="1"/>
          <p:nvPr/>
        </p:nvSpPr>
        <p:spPr>
          <a:xfrm>
            <a:off x="812800" y="5143500"/>
            <a:ext cx="209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+420 777 987 587</a:t>
            </a:r>
            <a:endParaRPr lang="en-US" sz="1300" dirty="0"/>
          </a:p>
        </p:txBody>
      </p:sp>
      <p:sp>
        <p:nvSpPr>
          <p:cNvPr id="7" name="pill-6"/>
          <p:cNvSpPr/>
          <p:nvPr/>
        </p:nvSpPr>
        <p:spPr>
          <a:xfrm>
            <a:off x="3060700" y="5143500"/>
            <a:ext cx="33020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8" name="text-7"/>
          <p:cNvSpPr txBox="1"/>
          <p:nvPr/>
        </p:nvSpPr>
        <p:spPr>
          <a:xfrm>
            <a:off x="3060700" y="5143500"/>
            <a:ext cx="330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melisakangeldieva@icloud.com</a:t>
            </a:r>
            <a:endParaRPr lang="en-US" sz="1300" dirty="0"/>
          </a:p>
        </p:txBody>
      </p:sp>
      <p:sp>
        <p:nvSpPr>
          <p:cNvPr id="9" name="photo-body"/>
          <p:cNvSpPr/>
          <p:nvPr/>
        </p:nvSpPr>
        <p:spPr>
          <a:xfrm>
            <a:off x="7823200" y="2921000"/>
            <a:ext cx="3556000" cy="2794000"/>
          </a:xfrm>
          <a:prstGeom prst="roundRect">
            <a:avLst>
              <a:gd name="adj" fmla="val 7273"/>
            </a:avLst>
          </a:prstGeom>
          <a:solidFill>
            <a:srgbClr val="E6DED1"/>
          </a:solidFill>
          <a:ln/>
        </p:spPr>
      </p:sp>
      <p:sp>
        <p:nvSpPr>
          <p:cNvPr id="10" name="photo-top"/>
          <p:cNvSpPr/>
          <p:nvPr/>
        </p:nvSpPr>
        <p:spPr>
          <a:xfrm>
            <a:off x="7823200" y="1143000"/>
            <a:ext cx="3556000" cy="3556000"/>
          </a:xfrm>
          <a:prstGeom prst="ellipse">
            <a:avLst/>
          </a:prstGeom>
          <a:solidFill>
            <a:srgbClr val="E6DED1"/>
          </a:solidFill>
          <a:ln/>
        </p:spPr>
      </p:sp>
      <p:sp>
        <p:nvSpPr>
          <p:cNvPr id="11" name="photo-join"/>
          <p:cNvSpPr/>
          <p:nvPr/>
        </p:nvSpPr>
        <p:spPr>
          <a:xfrm>
            <a:off x="7823200" y="2921000"/>
            <a:ext cx="3556000" cy="635000"/>
          </a:xfrm>
          <a:prstGeom prst="rect">
            <a:avLst/>
          </a:prstGeom>
          <a:solidFill>
            <a:srgbClr val="E6DED1"/>
          </a:solidFill>
          <a:ln/>
        </p:spPr>
      </p:sp>
      <p:sp>
        <p:nvSpPr>
          <p:cNvPr id="12" name="text-8"/>
          <p:cNvSpPr txBox="1"/>
          <p:nvPr/>
        </p:nvSpPr>
        <p:spPr>
          <a:xfrm>
            <a:off x="7823200" y="3302000"/>
            <a:ext cx="355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[Фото]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ОБО МНЕ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Креатив плюс подход,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ориентированный на результат</a:t>
            </a:r>
            <a:endParaRPr lang="en-US" sz="3200" dirty="0"/>
          </a:p>
        </p:txBody>
      </p:sp>
      <p:sp>
        <p:nvSpPr>
          <p:cNvPr id="4" name="card-9"/>
          <p:cNvSpPr/>
          <p:nvPr/>
        </p:nvSpPr>
        <p:spPr>
          <a:xfrm>
            <a:off x="812800" y="2540000"/>
            <a:ext cx="3384550" cy="209550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-10"/>
          <p:cNvSpPr txBox="1"/>
          <p:nvPr/>
        </p:nvSpPr>
        <p:spPr>
          <a:xfrm>
            <a:off x="1117600" y="2844800"/>
            <a:ext cx="27749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года</a:t>
            </a:r>
            <a:endParaRPr lang="en-US" sz="3000" dirty="0"/>
          </a:p>
        </p:txBody>
      </p:sp>
      <p:sp>
        <p:nvSpPr>
          <p:cNvPr id="6" name="text-11"/>
          <p:cNvSpPr txBox="1"/>
          <p:nvPr/>
        </p:nvSpPr>
        <p:spPr>
          <a:xfrm>
            <a:off x="1117600" y="3556000"/>
            <a:ext cx="277495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в SMM и создании контента</a:t>
            </a:r>
            <a:endParaRPr lang="en-US" sz="1600" dirty="0"/>
          </a:p>
        </p:txBody>
      </p:sp>
      <p:sp>
        <p:nvSpPr>
          <p:cNvPr id="7" name="card-12"/>
          <p:cNvSpPr/>
          <p:nvPr/>
        </p:nvSpPr>
        <p:spPr>
          <a:xfrm>
            <a:off x="4400550" y="2540000"/>
            <a:ext cx="3384550" cy="209550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-13"/>
          <p:cNvSpPr txBox="1"/>
          <p:nvPr/>
        </p:nvSpPr>
        <p:spPr>
          <a:xfrm>
            <a:off x="4705350" y="2844800"/>
            <a:ext cx="27749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бренда</a:t>
            </a:r>
            <a:endParaRPr lang="en-US" sz="3000" dirty="0"/>
          </a:p>
        </p:txBody>
      </p:sp>
      <p:sp>
        <p:nvSpPr>
          <p:cNvPr id="9" name="text-14"/>
          <p:cNvSpPr txBox="1"/>
          <p:nvPr/>
        </p:nvSpPr>
        <p:spPr>
          <a:xfrm>
            <a:off x="4705350" y="3556000"/>
            <a:ext cx="277495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банк, B2B SaaS, логистика и личный бренд</a:t>
            </a:r>
            <a:endParaRPr lang="en-US" sz="1600" dirty="0"/>
          </a:p>
        </p:txBody>
      </p:sp>
      <p:sp>
        <p:nvSpPr>
          <p:cNvPr id="10" name="card-15"/>
          <p:cNvSpPr/>
          <p:nvPr/>
        </p:nvSpPr>
        <p:spPr>
          <a:xfrm>
            <a:off x="7988300" y="2540000"/>
            <a:ext cx="3384550" cy="2095500"/>
          </a:xfrm>
          <a:prstGeom prst="roundRect">
            <a:avLst>
              <a:gd name="adj" fmla="val 7273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1" name="text-16"/>
          <p:cNvSpPr txBox="1"/>
          <p:nvPr/>
        </p:nvSpPr>
        <p:spPr>
          <a:xfrm>
            <a:off x="8293100" y="2844800"/>
            <a:ext cx="27749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VŠFS</a:t>
            </a:r>
            <a:endParaRPr lang="en-US" sz="3000" dirty="0"/>
          </a:p>
        </p:txBody>
      </p:sp>
      <p:sp>
        <p:nvSpPr>
          <p:cNvPr id="12" name="text-17"/>
          <p:cNvSpPr txBox="1"/>
          <p:nvPr/>
        </p:nvSpPr>
        <p:spPr>
          <a:xfrm>
            <a:off x="8293100" y="3556000"/>
            <a:ext cx="277495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Бакалавриат</a:t>
            </a:r>
            <a:endParaRPr lang="en-US" sz="1600" dirty="0"/>
          </a:p>
        </p:txBody>
      </p:sp>
      <p:sp>
        <p:nvSpPr>
          <p:cNvPr id="13" name="text-18"/>
          <p:cNvSpPr txBox="1"/>
          <p:nvPr/>
        </p:nvSpPr>
        <p:spPr>
          <a:xfrm>
            <a:off x="812800" y="50165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Фокус: рост аудитории, вовлечённость, узнаваемость бренда и контент, который работает на бизнес-цели.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КЛЮЧЕВЫЕ РЕЗУЛЬТАТЫ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Просмотры, которые я сделала</a:t>
            </a:r>
            <a:endParaRPr lang="en-US" sz="3200" dirty="0"/>
          </a:p>
        </p:txBody>
      </p:sp>
      <p:sp>
        <p:nvSpPr>
          <p:cNvPr id="4" name="rule-19"/>
          <p:cNvSpPr/>
          <p:nvPr/>
        </p:nvSpPr>
        <p:spPr>
          <a:xfrm>
            <a:off x="812800" y="3556000"/>
            <a:ext cx="248920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5" name="text-20"/>
          <p:cNvSpPr txBox="1"/>
          <p:nvPr/>
        </p:nvSpPr>
        <p:spPr>
          <a:xfrm>
            <a:off x="812800" y="3746500"/>
            <a:ext cx="248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4M</a:t>
            </a:r>
            <a:endParaRPr lang="en-US" sz="3600" dirty="0"/>
          </a:p>
        </p:txBody>
      </p:sp>
      <p:sp>
        <p:nvSpPr>
          <p:cNvPr id="6" name="text-21"/>
          <p:cNvSpPr txBox="1"/>
          <p:nvPr/>
        </p:nvSpPr>
        <p:spPr>
          <a:xfrm>
            <a:off x="812800" y="4572000"/>
            <a:ext cx="248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просмотров кампании с таргетом (DemirBank)</a:t>
            </a:r>
            <a:endParaRPr lang="en-US" sz="1500" dirty="0"/>
          </a:p>
        </p:txBody>
      </p:sp>
      <p:sp>
        <p:nvSpPr>
          <p:cNvPr id="7" name="rule-22"/>
          <p:cNvSpPr/>
          <p:nvPr/>
        </p:nvSpPr>
        <p:spPr>
          <a:xfrm>
            <a:off x="3505200" y="3556000"/>
            <a:ext cx="248920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8" name="text-23"/>
          <p:cNvSpPr txBox="1"/>
          <p:nvPr/>
        </p:nvSpPr>
        <p:spPr>
          <a:xfrm>
            <a:off x="3505200" y="3746500"/>
            <a:ext cx="248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630K+</a:t>
            </a:r>
            <a:endParaRPr lang="en-US" sz="3600" dirty="0"/>
          </a:p>
        </p:txBody>
      </p:sp>
      <p:sp>
        <p:nvSpPr>
          <p:cNvPr id="9" name="text-24"/>
          <p:cNvSpPr txBox="1"/>
          <p:nvPr/>
        </p:nvSpPr>
        <p:spPr>
          <a:xfrm>
            <a:off x="3505200" y="4572000"/>
            <a:ext cx="248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органических просмотров вирусного Reels (InWork)</a:t>
            </a:r>
            <a:endParaRPr lang="en-US" sz="1500" dirty="0"/>
          </a:p>
        </p:txBody>
      </p:sp>
      <p:sp>
        <p:nvSpPr>
          <p:cNvPr id="10" name="rule-25"/>
          <p:cNvSpPr/>
          <p:nvPr/>
        </p:nvSpPr>
        <p:spPr>
          <a:xfrm>
            <a:off x="6197600" y="3556000"/>
            <a:ext cx="248920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11" name="text-26"/>
          <p:cNvSpPr txBox="1"/>
          <p:nvPr/>
        </p:nvSpPr>
        <p:spPr>
          <a:xfrm>
            <a:off x="6197600" y="3746500"/>
            <a:ext cx="248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290K</a:t>
            </a:r>
            <a:endParaRPr lang="en-US" sz="3600" dirty="0"/>
          </a:p>
        </p:txBody>
      </p:sp>
      <p:sp>
        <p:nvSpPr>
          <p:cNvPr id="12" name="text-27"/>
          <p:cNvSpPr txBox="1"/>
          <p:nvPr/>
        </p:nvSpPr>
        <p:spPr>
          <a:xfrm>
            <a:off x="6197600" y="4572000"/>
            <a:ext cx="248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органических просмотров без рекламы (DemirBank)</a:t>
            </a:r>
            <a:endParaRPr lang="en-US" sz="1500" dirty="0"/>
          </a:p>
        </p:txBody>
      </p:sp>
      <p:sp>
        <p:nvSpPr>
          <p:cNvPr id="13" name="rule-28"/>
          <p:cNvSpPr/>
          <p:nvPr/>
        </p:nvSpPr>
        <p:spPr>
          <a:xfrm>
            <a:off x="8890000" y="3556000"/>
            <a:ext cx="2489200" cy="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14" name="text-29"/>
          <p:cNvSpPr txBox="1"/>
          <p:nvPr/>
        </p:nvSpPr>
        <p:spPr>
          <a:xfrm>
            <a:off x="8890000" y="3746500"/>
            <a:ext cx="248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30K</a:t>
            </a:r>
            <a:endParaRPr lang="en-US" sz="3600" dirty="0"/>
          </a:p>
        </p:txBody>
      </p:sp>
      <p:sp>
        <p:nvSpPr>
          <p:cNvPr id="15" name="text-30"/>
          <p:cNvSpPr txBox="1"/>
          <p:nvPr/>
        </p:nvSpPr>
        <p:spPr>
          <a:xfrm>
            <a:off x="8890000" y="4572000"/>
            <a:ext cx="248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органических просмотров Reels личного бренда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ОПЫТ · 10/2024 — СЕЙЧАС · @DEMIRBANKKG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DemirBank</a:t>
            </a:r>
            <a:endParaRPr lang="en-US" sz="3200" dirty="0"/>
          </a:p>
        </p:txBody>
      </p:sp>
      <p:sp>
        <p:nvSpPr>
          <p:cNvPr id="4" name="card-31"/>
          <p:cNvSpPr/>
          <p:nvPr/>
        </p:nvSpPr>
        <p:spPr>
          <a:xfrm>
            <a:off x="812800" y="2095500"/>
            <a:ext cx="7823200" cy="3302000"/>
          </a:xfrm>
          <a:prstGeom prst="roundRect">
            <a:avLst>
              <a:gd name="adj" fmla="val 4615"/>
            </a:avLst>
          </a:prstGeom>
          <a:solidFill>
            <a:schemeClr val="accent3"/>
          </a:solidFill>
          <a:ln/>
        </p:spPr>
      </p:sp>
      <p:sp>
        <p:nvSpPr>
          <p:cNvPr id="5" name="text-32"/>
          <p:cNvSpPr txBox="1"/>
          <p:nvPr/>
        </p:nvSpPr>
        <p:spPr>
          <a:xfrm>
            <a:off x="1117600" y="2374900"/>
            <a:ext cx="7213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Стратегия и полный цикл</a:t>
            </a:r>
            <a:endParaRPr lang="en-US" sz="1600" dirty="0"/>
          </a:p>
        </p:txBody>
      </p:sp>
      <p:sp>
        <p:nvSpPr>
          <p:cNvPr id="6" name="text-33"/>
          <p:cNvSpPr txBox="1"/>
          <p:nvPr/>
        </p:nvSpPr>
        <p:spPr>
          <a:xfrm>
            <a:off x="1117600" y="2717800"/>
            <a:ext cx="7213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От трендов и концепций до сценария, съёмки, монтажа, публикации и анализа</a:t>
            </a:r>
            <a:endParaRPr lang="en-US" sz="1400" dirty="0"/>
          </a:p>
        </p:txBody>
      </p:sp>
      <p:sp>
        <p:nvSpPr>
          <p:cNvPr id="7" name="text-34"/>
          <p:cNvSpPr txBox="1"/>
          <p:nvPr/>
        </p:nvSpPr>
        <p:spPr>
          <a:xfrm>
            <a:off x="1117600" y="3365500"/>
            <a:ext cx="7213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Форматы</a:t>
            </a:r>
            <a:endParaRPr lang="en-US" sz="1600" dirty="0"/>
          </a:p>
        </p:txBody>
      </p:sp>
      <p:sp>
        <p:nvSpPr>
          <p:cNvPr id="8" name="text-35"/>
          <p:cNvSpPr txBox="1"/>
          <p:nvPr/>
        </p:nvSpPr>
        <p:spPr>
          <a:xfrm>
            <a:off x="1117600" y="3708400"/>
            <a:ext cx="7213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Reels, Stories, промо и обучающий контент на охват, вовлечённость и конверсию</a:t>
            </a:r>
            <a:endParaRPr lang="en-US" sz="1400" dirty="0"/>
          </a:p>
        </p:txBody>
      </p:sp>
      <p:sp>
        <p:nvSpPr>
          <p:cNvPr id="9" name="text-36"/>
          <p:cNvSpPr txBox="1"/>
          <p:nvPr/>
        </p:nvSpPr>
        <p:spPr>
          <a:xfrm>
            <a:off x="1117600" y="4356100"/>
            <a:ext cx="7213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Тесты</a:t>
            </a:r>
            <a:endParaRPr lang="en-US" sz="1600" dirty="0"/>
          </a:p>
        </p:txBody>
      </p:sp>
      <p:sp>
        <p:nvSpPr>
          <p:cNvPr id="10" name="text-37"/>
          <p:cNvSpPr txBox="1"/>
          <p:nvPr/>
        </p:nvSpPr>
        <p:spPr>
          <a:xfrm>
            <a:off x="1117600" y="4699000"/>
            <a:ext cx="7213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Постоянно проверяю новые хуки, форматы, тренды и креативные гипотезы</a:t>
            </a:r>
            <a:endParaRPr lang="en-US" sz="1400" dirty="0"/>
          </a:p>
        </p:txBody>
      </p:sp>
      <p:sp>
        <p:nvSpPr>
          <p:cNvPr id="11" name="card-38"/>
          <p:cNvSpPr/>
          <p:nvPr/>
        </p:nvSpPr>
        <p:spPr>
          <a:xfrm>
            <a:off x="8839200" y="2095500"/>
            <a:ext cx="2540000" cy="1549400"/>
          </a:xfrm>
          <a:prstGeom prst="roundRect">
            <a:avLst>
              <a:gd name="adj" fmla="val 9836"/>
            </a:avLst>
          </a:prstGeom>
          <a:solidFill>
            <a:schemeClr val="tx1"/>
          </a:solidFill>
          <a:ln/>
        </p:spPr>
      </p:sp>
      <p:sp>
        <p:nvSpPr>
          <p:cNvPr id="12" name="text-39"/>
          <p:cNvSpPr txBox="1"/>
          <p:nvPr/>
        </p:nvSpPr>
        <p:spPr>
          <a:xfrm>
            <a:off x="9093200" y="2324100"/>
            <a:ext cx="203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290K</a:t>
            </a:r>
            <a:endParaRPr lang="en-US" sz="3200" dirty="0"/>
          </a:p>
        </p:txBody>
      </p:sp>
      <p:sp>
        <p:nvSpPr>
          <p:cNvPr id="13" name="text-40"/>
          <p:cNvSpPr txBox="1"/>
          <p:nvPr/>
        </p:nvSpPr>
        <p:spPr>
          <a:xfrm>
            <a:off x="9093200" y="2959100"/>
            <a:ext cx="203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органических просмотров без рекламы</a:t>
            </a:r>
            <a:endParaRPr lang="en-US" sz="1300" dirty="0"/>
          </a:p>
        </p:txBody>
      </p:sp>
      <p:sp>
        <p:nvSpPr>
          <p:cNvPr id="14" name="card-41"/>
          <p:cNvSpPr/>
          <p:nvPr/>
        </p:nvSpPr>
        <p:spPr>
          <a:xfrm>
            <a:off x="8839200" y="3848100"/>
            <a:ext cx="2540000" cy="1549400"/>
          </a:xfrm>
          <a:prstGeom prst="roundRect">
            <a:avLst>
              <a:gd name="adj" fmla="val 9836"/>
            </a:avLst>
          </a:prstGeom>
          <a:solidFill>
            <a:schemeClr val="tx1"/>
          </a:solidFill>
          <a:ln/>
        </p:spPr>
      </p:sp>
      <p:sp>
        <p:nvSpPr>
          <p:cNvPr id="15" name="text-42"/>
          <p:cNvSpPr txBox="1"/>
          <p:nvPr/>
        </p:nvSpPr>
        <p:spPr>
          <a:xfrm>
            <a:off x="9093200" y="4076700"/>
            <a:ext cx="203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4M</a:t>
            </a:r>
            <a:endParaRPr lang="en-US" sz="3200" dirty="0"/>
          </a:p>
        </p:txBody>
      </p:sp>
      <p:sp>
        <p:nvSpPr>
          <p:cNvPr id="16" name="text-43"/>
          <p:cNvSpPr txBox="1"/>
          <p:nvPr/>
        </p:nvSpPr>
        <p:spPr>
          <a:xfrm>
            <a:off x="9093200" y="4711700"/>
            <a:ext cx="203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просмотров кампании: органика + таргет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ОПЫТ · 09/2023 — 10/2024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B2B, логистика и личный бренд</a:t>
            </a:r>
            <a:endParaRPr lang="en-US" sz="3200" dirty="0"/>
          </a:p>
        </p:txBody>
      </p:sp>
      <p:sp>
        <p:nvSpPr>
          <p:cNvPr id="4" name="card-44"/>
          <p:cNvSpPr/>
          <p:nvPr/>
        </p:nvSpPr>
        <p:spPr>
          <a:xfrm>
            <a:off x="812800" y="2413000"/>
            <a:ext cx="3384550" cy="3048000"/>
          </a:xfrm>
          <a:prstGeom prst="roundRect">
            <a:avLst>
              <a:gd name="adj" fmla="val 5000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-45"/>
          <p:cNvSpPr txBox="1"/>
          <p:nvPr/>
        </p:nvSpPr>
        <p:spPr>
          <a:xfrm>
            <a:off x="1066800" y="2667000"/>
            <a:ext cx="2876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InWork</a:t>
            </a:r>
            <a:endParaRPr lang="en-US" sz="1800" dirty="0"/>
          </a:p>
        </p:txBody>
      </p:sp>
      <p:sp>
        <p:nvSpPr>
          <p:cNvPr id="6" name="text-46"/>
          <p:cNvSpPr txBox="1"/>
          <p:nvPr/>
        </p:nvSpPr>
        <p:spPr>
          <a:xfrm>
            <a:off x="1066800" y="3073400"/>
            <a:ext cx="28765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CRM-платформа · @inwork.live</a:t>
            </a:r>
            <a:endParaRPr lang="en-US" sz="1200" dirty="0"/>
          </a:p>
        </p:txBody>
      </p:sp>
      <p:sp>
        <p:nvSpPr>
          <p:cNvPr id="7" name="text-47"/>
          <p:cNvSpPr txBox="1"/>
          <p:nvPr/>
        </p:nvSpPr>
        <p:spPr>
          <a:xfrm>
            <a:off x="1066800" y="3403600"/>
            <a:ext cx="287655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630K+</a:t>
            </a:r>
            <a:endParaRPr lang="en-US" sz="2600" dirty="0"/>
          </a:p>
        </p:txBody>
      </p:sp>
      <p:sp>
        <p:nvSpPr>
          <p:cNvPr id="8" name="text-48"/>
          <p:cNvSpPr txBox="1"/>
          <p:nvPr/>
        </p:nvSpPr>
        <p:spPr>
          <a:xfrm>
            <a:off x="1066800" y="4000500"/>
            <a:ext cx="28765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органических просмотров мемного Reels: сама сняла и смонтировала. B2B-продукт — понятным языком.</a:t>
            </a:r>
            <a:endParaRPr lang="en-US" sz="1400" dirty="0"/>
          </a:p>
        </p:txBody>
      </p:sp>
      <p:sp>
        <p:nvSpPr>
          <p:cNvPr id="9" name="card-49"/>
          <p:cNvSpPr/>
          <p:nvPr/>
        </p:nvSpPr>
        <p:spPr>
          <a:xfrm>
            <a:off x="4400550" y="2413000"/>
            <a:ext cx="3384550" cy="3048000"/>
          </a:xfrm>
          <a:prstGeom prst="roundRect">
            <a:avLst>
              <a:gd name="adj" fmla="val 5000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0" name="text-50"/>
          <p:cNvSpPr txBox="1"/>
          <p:nvPr/>
        </p:nvSpPr>
        <p:spPr>
          <a:xfrm>
            <a:off x="4654550" y="2667000"/>
            <a:ext cx="2876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 Logistics</a:t>
            </a:r>
            <a:endParaRPr lang="en-US" sz="1800" dirty="0"/>
          </a:p>
        </p:txBody>
      </p:sp>
      <p:sp>
        <p:nvSpPr>
          <p:cNvPr id="11" name="text-51"/>
          <p:cNvSpPr txBox="1"/>
          <p:nvPr/>
        </p:nvSpPr>
        <p:spPr>
          <a:xfrm>
            <a:off x="4654550" y="3073400"/>
            <a:ext cx="28765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Логистика · @caps_logistics</a:t>
            </a:r>
            <a:endParaRPr lang="en-US" sz="1200" dirty="0"/>
          </a:p>
        </p:txBody>
      </p:sp>
      <p:sp>
        <p:nvSpPr>
          <p:cNvPr id="12" name="text-52"/>
          <p:cNvSpPr txBox="1"/>
          <p:nvPr/>
        </p:nvSpPr>
        <p:spPr>
          <a:xfrm>
            <a:off x="4654550" y="3403600"/>
            <a:ext cx="287655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цикл</a:t>
            </a:r>
            <a:endParaRPr lang="en-US" sz="2000" dirty="0"/>
          </a:p>
        </p:txBody>
      </p:sp>
      <p:sp>
        <p:nvSpPr>
          <p:cNvPr id="13" name="text-53"/>
          <p:cNvSpPr txBox="1"/>
          <p:nvPr/>
        </p:nvSpPr>
        <p:spPr>
          <a:xfrm>
            <a:off x="4654550" y="4000500"/>
            <a:ext cx="28765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Контент-план, концепции, Reels, Stories и промо. Отраслевые темы в доступном формате.</a:t>
            </a:r>
            <a:endParaRPr lang="en-US" sz="1400" dirty="0"/>
          </a:p>
        </p:txBody>
      </p:sp>
      <p:sp>
        <p:nvSpPr>
          <p:cNvPr id="14" name="card-54"/>
          <p:cNvSpPr/>
          <p:nvPr/>
        </p:nvSpPr>
        <p:spPr>
          <a:xfrm>
            <a:off x="7988300" y="2413000"/>
            <a:ext cx="3384550" cy="3048000"/>
          </a:xfrm>
          <a:prstGeom prst="roundRect">
            <a:avLst>
              <a:gd name="adj" fmla="val 5000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5" name="text-55"/>
          <p:cNvSpPr txBox="1"/>
          <p:nvPr/>
        </p:nvSpPr>
        <p:spPr>
          <a:xfrm>
            <a:off x="8242300" y="2667000"/>
            <a:ext cx="2876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Бакыт Ирсалиев</a:t>
            </a:r>
            <a:endParaRPr lang="en-US" sz="1800" dirty="0"/>
          </a:p>
        </p:txBody>
      </p:sp>
      <p:sp>
        <p:nvSpPr>
          <p:cNvPr id="16" name="text-56"/>
          <p:cNvSpPr txBox="1"/>
          <p:nvPr/>
        </p:nvSpPr>
        <p:spPr>
          <a:xfrm>
            <a:off x="8242300" y="3073400"/>
            <a:ext cx="28765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Личный бренд · @bakyt_irsaliev</a:t>
            </a:r>
            <a:endParaRPr lang="en-US" sz="1200" dirty="0"/>
          </a:p>
        </p:txBody>
      </p:sp>
      <p:sp>
        <p:nvSpPr>
          <p:cNvPr id="17" name="text-57"/>
          <p:cNvSpPr txBox="1"/>
          <p:nvPr/>
        </p:nvSpPr>
        <p:spPr>
          <a:xfrm>
            <a:off x="8242300" y="3403600"/>
            <a:ext cx="287655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30K</a:t>
            </a:r>
            <a:endParaRPr lang="en-US" sz="2600" dirty="0"/>
          </a:p>
        </p:txBody>
      </p:sp>
      <p:sp>
        <p:nvSpPr>
          <p:cNvPr id="18" name="text-58"/>
          <p:cNvSpPr txBox="1"/>
          <p:nvPr/>
        </p:nvSpPr>
        <p:spPr>
          <a:xfrm>
            <a:off x="8242300" y="4000500"/>
            <a:ext cx="287655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органических просмотров Reels. Позиционирование, сторителлинг, сценарии, визуал.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КАК Я РАБОТАЮ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идеи до анализа — сама</a:t>
            </a:r>
            <a:endParaRPr lang="en-US" sz="3200" dirty="0"/>
          </a:p>
        </p:txBody>
      </p:sp>
      <p:sp>
        <p:nvSpPr>
          <p:cNvPr id="4" name="card-59"/>
          <p:cNvSpPr/>
          <p:nvPr/>
        </p:nvSpPr>
        <p:spPr>
          <a:xfrm>
            <a:off x="812800" y="2286000"/>
            <a:ext cx="2006600" cy="2413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5" name="text-60"/>
          <p:cNvSpPr txBox="1"/>
          <p:nvPr/>
        </p:nvSpPr>
        <p:spPr>
          <a:xfrm>
            <a:off x="101600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-61"/>
          <p:cNvSpPr txBox="1"/>
          <p:nvPr/>
        </p:nvSpPr>
        <p:spPr>
          <a:xfrm>
            <a:off x="101600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Тренды</a:t>
            </a:r>
            <a:endParaRPr lang="en-US" sz="1600" dirty="0"/>
          </a:p>
        </p:txBody>
      </p:sp>
      <p:sp>
        <p:nvSpPr>
          <p:cNvPr id="7" name="text-62"/>
          <p:cNvSpPr txBox="1"/>
          <p:nvPr/>
        </p:nvSpPr>
        <p:spPr>
          <a:xfrm>
            <a:off x="1016000" y="3429000"/>
            <a:ext cx="1600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Темы, референсы, анализ конкурентов</a:t>
            </a:r>
            <a:endParaRPr lang="en-US" sz="1300" dirty="0"/>
          </a:p>
        </p:txBody>
      </p:sp>
      <p:sp>
        <p:nvSpPr>
          <p:cNvPr id="8" name="card-63"/>
          <p:cNvSpPr/>
          <p:nvPr/>
        </p:nvSpPr>
        <p:spPr>
          <a:xfrm>
            <a:off x="2952750" y="2286000"/>
            <a:ext cx="2006600" cy="2413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9" name="text-64"/>
          <p:cNvSpPr txBox="1"/>
          <p:nvPr/>
        </p:nvSpPr>
        <p:spPr>
          <a:xfrm>
            <a:off x="315595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-65"/>
          <p:cNvSpPr txBox="1"/>
          <p:nvPr/>
        </p:nvSpPr>
        <p:spPr>
          <a:xfrm>
            <a:off x="315595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Сценарий</a:t>
            </a:r>
            <a:endParaRPr lang="en-US" sz="1600" dirty="0"/>
          </a:p>
        </p:txBody>
      </p:sp>
      <p:sp>
        <p:nvSpPr>
          <p:cNvPr id="11" name="text-66"/>
          <p:cNvSpPr txBox="1"/>
          <p:nvPr/>
        </p:nvSpPr>
        <p:spPr>
          <a:xfrm>
            <a:off x="3155950" y="3429000"/>
            <a:ext cx="1600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Креативная концепция, хук, текст</a:t>
            </a:r>
            <a:endParaRPr lang="en-US" sz="1300" dirty="0"/>
          </a:p>
        </p:txBody>
      </p:sp>
      <p:sp>
        <p:nvSpPr>
          <p:cNvPr id="12" name="card-67"/>
          <p:cNvSpPr/>
          <p:nvPr/>
        </p:nvSpPr>
        <p:spPr>
          <a:xfrm>
            <a:off x="5092700" y="2286000"/>
            <a:ext cx="2006600" cy="2413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13" name="text-68"/>
          <p:cNvSpPr txBox="1"/>
          <p:nvPr/>
        </p:nvSpPr>
        <p:spPr>
          <a:xfrm>
            <a:off x="529590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-69"/>
          <p:cNvSpPr txBox="1"/>
          <p:nvPr/>
        </p:nvSpPr>
        <p:spPr>
          <a:xfrm>
            <a:off x="529590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Съёмка</a:t>
            </a:r>
            <a:endParaRPr lang="en-US" sz="1600" dirty="0"/>
          </a:p>
        </p:txBody>
      </p:sp>
      <p:sp>
        <p:nvSpPr>
          <p:cNvPr id="15" name="text-70"/>
          <p:cNvSpPr txBox="1"/>
          <p:nvPr/>
        </p:nvSpPr>
        <p:spPr>
          <a:xfrm>
            <a:off x="5295900" y="3429000"/>
            <a:ext cx="1600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Reels, TikTok, Shorts, Stories — снимаю и монтирую сама</a:t>
            </a:r>
            <a:endParaRPr lang="en-US" sz="1300" dirty="0"/>
          </a:p>
        </p:txBody>
      </p:sp>
      <p:sp>
        <p:nvSpPr>
          <p:cNvPr id="16" name="card-71"/>
          <p:cNvSpPr/>
          <p:nvPr/>
        </p:nvSpPr>
        <p:spPr>
          <a:xfrm>
            <a:off x="7232650" y="2286000"/>
            <a:ext cx="2006600" cy="2413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17" name="text-72"/>
          <p:cNvSpPr txBox="1"/>
          <p:nvPr/>
        </p:nvSpPr>
        <p:spPr>
          <a:xfrm>
            <a:off x="743585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-73"/>
          <p:cNvSpPr txBox="1"/>
          <p:nvPr/>
        </p:nvSpPr>
        <p:spPr>
          <a:xfrm>
            <a:off x="743585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Публикация</a:t>
            </a:r>
            <a:endParaRPr lang="en-US" sz="1600" dirty="0"/>
          </a:p>
        </p:txBody>
      </p:sp>
      <p:sp>
        <p:nvSpPr>
          <p:cNvPr id="19" name="text-74"/>
          <p:cNvSpPr txBox="1"/>
          <p:nvPr/>
        </p:nvSpPr>
        <p:spPr>
          <a:xfrm>
            <a:off x="7435850" y="3429000"/>
            <a:ext cx="1600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Адаптация под каждую площадку</a:t>
            </a:r>
            <a:endParaRPr lang="en-US" sz="1300" dirty="0"/>
          </a:p>
        </p:txBody>
      </p:sp>
      <p:sp>
        <p:nvSpPr>
          <p:cNvPr id="20" name="card-75"/>
          <p:cNvSpPr/>
          <p:nvPr/>
        </p:nvSpPr>
        <p:spPr>
          <a:xfrm>
            <a:off x="9372600" y="2286000"/>
            <a:ext cx="2006600" cy="2413000"/>
          </a:xfrm>
          <a:prstGeom prst="roundRect">
            <a:avLst>
              <a:gd name="adj" fmla="val 7595"/>
            </a:avLst>
          </a:prstGeom>
          <a:solidFill>
            <a:schemeClr val="accent3"/>
          </a:solidFill>
          <a:ln/>
        </p:spPr>
      </p:sp>
      <p:sp>
        <p:nvSpPr>
          <p:cNvPr id="21" name="text-76"/>
          <p:cNvSpPr txBox="1"/>
          <p:nvPr/>
        </p:nvSpPr>
        <p:spPr>
          <a:xfrm>
            <a:off x="9575800" y="2489200"/>
            <a:ext cx="16002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-77"/>
          <p:cNvSpPr txBox="1"/>
          <p:nvPr/>
        </p:nvSpPr>
        <p:spPr>
          <a:xfrm>
            <a:off x="9575800" y="3022600"/>
            <a:ext cx="1600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Анализ</a:t>
            </a:r>
            <a:endParaRPr lang="en-US" sz="1600" dirty="0"/>
          </a:p>
        </p:txBody>
      </p:sp>
      <p:sp>
        <p:nvSpPr>
          <p:cNvPr id="23" name="text-78"/>
          <p:cNvSpPr txBox="1"/>
          <p:nvPr/>
        </p:nvSpPr>
        <p:spPr>
          <a:xfrm>
            <a:off x="9575800" y="3429000"/>
            <a:ext cx="1600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Охваты, вовлечённость, тесты хуков и форматов</a:t>
            </a:r>
            <a:endParaRPr lang="en-US" sz="1300" dirty="0"/>
          </a:p>
        </p:txBody>
      </p:sp>
      <p:sp>
        <p:nvSpPr>
          <p:cNvPr id="24" name="text-79"/>
          <p:cNvSpPr txBox="1"/>
          <p:nvPr/>
        </p:nvSpPr>
        <p:spPr>
          <a:xfrm>
            <a:off x="812800" y="5016500"/>
            <a:ext cx="1056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Каждый ролик работает на задачу: охват, вовлечённость, узнаваемость или конверсия.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КОМПЕТЕНЦИИ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я умею делать хорошо</a:t>
            </a:r>
            <a:endParaRPr lang="en-US" sz="3200" dirty="0"/>
          </a:p>
        </p:txBody>
      </p:sp>
      <p:sp>
        <p:nvSpPr>
          <p:cNvPr id="4" name="rule-80"/>
          <p:cNvSpPr/>
          <p:nvPr/>
        </p:nvSpPr>
        <p:spPr>
          <a:xfrm>
            <a:off x="812800" y="2413000"/>
            <a:ext cx="518160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5" name="text-81"/>
          <p:cNvSpPr txBox="1"/>
          <p:nvPr/>
        </p:nvSpPr>
        <p:spPr>
          <a:xfrm>
            <a:off x="812800" y="2565400"/>
            <a:ext cx="5181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SMM и стратегия</a:t>
            </a:r>
            <a:endParaRPr lang="en-US" sz="1800" dirty="0"/>
          </a:p>
        </p:txBody>
      </p:sp>
      <p:sp>
        <p:nvSpPr>
          <p:cNvPr id="6" name="text-82"/>
          <p:cNvSpPr txBox="1"/>
          <p:nvPr/>
        </p:nvSpPr>
        <p:spPr>
          <a:xfrm>
            <a:off x="812800" y="2946400"/>
            <a:ext cx="518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SMM-стратегия, контент-план, позиционирование бренда, анализ трендов и конкурентов, рост аудитории</a:t>
            </a:r>
            <a:endParaRPr lang="en-US" sz="1400" dirty="0"/>
          </a:p>
        </p:txBody>
      </p:sp>
      <p:sp>
        <p:nvSpPr>
          <p:cNvPr id="7" name="rule-83"/>
          <p:cNvSpPr/>
          <p:nvPr/>
        </p:nvSpPr>
        <p:spPr>
          <a:xfrm>
            <a:off x="6197600" y="2413000"/>
            <a:ext cx="518160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8" name="text-84"/>
          <p:cNvSpPr txBox="1"/>
          <p:nvPr/>
        </p:nvSpPr>
        <p:spPr>
          <a:xfrm>
            <a:off x="6197600" y="2565400"/>
            <a:ext cx="5181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Контент и продакшн</a:t>
            </a:r>
            <a:endParaRPr lang="en-US" sz="1800" dirty="0"/>
          </a:p>
        </p:txBody>
      </p:sp>
      <p:sp>
        <p:nvSpPr>
          <p:cNvPr id="9" name="text-85"/>
          <p:cNvSpPr txBox="1"/>
          <p:nvPr/>
        </p:nvSpPr>
        <p:spPr>
          <a:xfrm>
            <a:off x="6197600" y="2946400"/>
            <a:ext cx="518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Reels, TikTok, Shorts, Stories, сценарии, копирайтинг, сторителлинг, производство коротких видео</a:t>
            </a:r>
            <a:endParaRPr lang="en-US" sz="1400" dirty="0"/>
          </a:p>
        </p:txBody>
      </p:sp>
      <p:sp>
        <p:nvSpPr>
          <p:cNvPr id="10" name="rule-86"/>
          <p:cNvSpPr/>
          <p:nvPr/>
        </p:nvSpPr>
        <p:spPr>
          <a:xfrm>
            <a:off x="812800" y="3937000"/>
            <a:ext cx="518160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1" name="text-87"/>
          <p:cNvSpPr txBox="1"/>
          <p:nvPr/>
        </p:nvSpPr>
        <p:spPr>
          <a:xfrm>
            <a:off x="812800" y="4089400"/>
            <a:ext cx="5181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Аналитика и рост</a:t>
            </a:r>
            <a:endParaRPr lang="en-US" sz="1800" dirty="0"/>
          </a:p>
        </p:txBody>
      </p:sp>
      <p:sp>
        <p:nvSpPr>
          <p:cNvPr id="12" name="text-88"/>
          <p:cNvSpPr txBox="1"/>
          <p:nvPr/>
        </p:nvSpPr>
        <p:spPr>
          <a:xfrm>
            <a:off x="812800" y="4470400"/>
            <a:ext cx="518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Отслеживание KPI, A/B-тесты, контент под конверсию</a:t>
            </a:r>
            <a:endParaRPr lang="en-US" sz="1400" dirty="0"/>
          </a:p>
        </p:txBody>
      </p:sp>
      <p:sp>
        <p:nvSpPr>
          <p:cNvPr id="13" name="rule-89"/>
          <p:cNvSpPr/>
          <p:nvPr/>
        </p:nvSpPr>
        <p:spPr>
          <a:xfrm>
            <a:off x="6197600" y="3937000"/>
            <a:ext cx="518160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4" name="text-90"/>
          <p:cNvSpPr txBox="1"/>
          <p:nvPr/>
        </p:nvSpPr>
        <p:spPr>
          <a:xfrm>
            <a:off x="6197600" y="4089400"/>
            <a:ext cx="5181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Креатив + результат</a:t>
            </a:r>
            <a:endParaRPr lang="en-US" sz="1800" dirty="0"/>
          </a:p>
        </p:txBody>
      </p:sp>
      <p:sp>
        <p:nvSpPr>
          <p:cNvPr id="15" name="text-91"/>
          <p:cNvSpPr txBox="1"/>
          <p:nvPr/>
        </p:nvSpPr>
        <p:spPr>
          <a:xfrm>
            <a:off x="6197600" y="4470400"/>
            <a:ext cx="518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Охваты, вовлечённость, узнаваемость и контент, который поддерживает бизнес-цели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ИНСТРУМЕНТЫ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Рабочий стек</a:t>
            </a:r>
            <a:endParaRPr lang="en-US" sz="3200" dirty="0"/>
          </a:p>
        </p:txBody>
      </p:sp>
      <p:sp>
        <p:nvSpPr>
          <p:cNvPr id="4" name="text-92"/>
          <p:cNvSpPr txBox="1"/>
          <p:nvPr/>
        </p:nvSpPr>
        <p:spPr>
          <a:xfrm>
            <a:off x="812800" y="2489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Площадки</a:t>
            </a:r>
            <a:endParaRPr lang="en-US" sz="1400" dirty="0"/>
          </a:p>
        </p:txBody>
      </p:sp>
      <p:sp>
        <p:nvSpPr>
          <p:cNvPr id="5" name="pill-93"/>
          <p:cNvSpPr/>
          <p:nvPr/>
        </p:nvSpPr>
        <p:spPr>
          <a:xfrm>
            <a:off x="3048000" y="2413000"/>
            <a:ext cx="109855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6" name="text-94"/>
          <p:cNvSpPr txBox="1"/>
          <p:nvPr/>
        </p:nvSpPr>
        <p:spPr>
          <a:xfrm>
            <a:off x="3048000" y="2413000"/>
            <a:ext cx="1098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Instagram</a:t>
            </a:r>
            <a:endParaRPr lang="en-US" sz="1300" dirty="0"/>
          </a:p>
        </p:txBody>
      </p:sp>
      <p:sp>
        <p:nvSpPr>
          <p:cNvPr id="7" name="pill-95"/>
          <p:cNvSpPr/>
          <p:nvPr/>
        </p:nvSpPr>
        <p:spPr>
          <a:xfrm>
            <a:off x="4248150" y="2413000"/>
            <a:ext cx="8509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8" name="text-96"/>
          <p:cNvSpPr txBox="1"/>
          <p:nvPr/>
        </p:nvSpPr>
        <p:spPr>
          <a:xfrm>
            <a:off x="4248150" y="2413000"/>
            <a:ext cx="85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TikTok</a:t>
            </a:r>
            <a:endParaRPr lang="en-US" sz="1300" dirty="0"/>
          </a:p>
        </p:txBody>
      </p:sp>
      <p:sp>
        <p:nvSpPr>
          <p:cNvPr id="9" name="pill-97"/>
          <p:cNvSpPr/>
          <p:nvPr/>
        </p:nvSpPr>
        <p:spPr>
          <a:xfrm>
            <a:off x="5200650" y="2413000"/>
            <a:ext cx="10160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0" name="text-98"/>
          <p:cNvSpPr txBox="1"/>
          <p:nvPr/>
        </p:nvSpPr>
        <p:spPr>
          <a:xfrm>
            <a:off x="5200650" y="2413000"/>
            <a:ext cx="101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Telegram</a:t>
            </a:r>
            <a:endParaRPr lang="en-US" sz="1300" dirty="0"/>
          </a:p>
        </p:txBody>
      </p:sp>
      <p:sp>
        <p:nvSpPr>
          <p:cNvPr id="11" name="pill-99"/>
          <p:cNvSpPr/>
          <p:nvPr/>
        </p:nvSpPr>
        <p:spPr>
          <a:xfrm>
            <a:off x="6318250" y="2413000"/>
            <a:ext cx="101600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2" name="text-100"/>
          <p:cNvSpPr txBox="1"/>
          <p:nvPr/>
        </p:nvSpPr>
        <p:spPr>
          <a:xfrm>
            <a:off x="6318250" y="2413000"/>
            <a:ext cx="101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Facebook</a:t>
            </a:r>
            <a:endParaRPr lang="en-US" sz="1300" dirty="0"/>
          </a:p>
        </p:txBody>
      </p:sp>
      <p:sp>
        <p:nvSpPr>
          <p:cNvPr id="13" name="pill-101"/>
          <p:cNvSpPr/>
          <p:nvPr/>
        </p:nvSpPr>
        <p:spPr>
          <a:xfrm>
            <a:off x="7435850" y="2413000"/>
            <a:ext cx="93345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4" name="text-102"/>
          <p:cNvSpPr txBox="1"/>
          <p:nvPr/>
        </p:nvSpPr>
        <p:spPr>
          <a:xfrm>
            <a:off x="7435850" y="2413000"/>
            <a:ext cx="933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Threads</a:t>
            </a:r>
            <a:endParaRPr lang="en-US" sz="1300" dirty="0"/>
          </a:p>
        </p:txBody>
      </p:sp>
      <p:sp>
        <p:nvSpPr>
          <p:cNvPr id="15" name="pill-103"/>
          <p:cNvSpPr/>
          <p:nvPr/>
        </p:nvSpPr>
        <p:spPr>
          <a:xfrm>
            <a:off x="8470900" y="2413000"/>
            <a:ext cx="933450" cy="381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</p:sp>
      <p:sp>
        <p:nvSpPr>
          <p:cNvPr id="16" name="text-104"/>
          <p:cNvSpPr txBox="1"/>
          <p:nvPr/>
        </p:nvSpPr>
        <p:spPr>
          <a:xfrm>
            <a:off x="8470900" y="2413000"/>
            <a:ext cx="933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YouTube</a:t>
            </a:r>
            <a:endParaRPr lang="en-US" sz="1300" dirty="0"/>
          </a:p>
        </p:txBody>
      </p:sp>
      <p:sp>
        <p:nvSpPr>
          <p:cNvPr id="17" name="text-105"/>
          <p:cNvSpPr txBox="1"/>
          <p:nvPr/>
        </p:nvSpPr>
        <p:spPr>
          <a:xfrm>
            <a:off x="812800" y="3251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Креатив</a:t>
            </a:r>
            <a:endParaRPr lang="en-US" sz="1400" dirty="0"/>
          </a:p>
        </p:txBody>
      </p:sp>
      <p:sp>
        <p:nvSpPr>
          <p:cNvPr id="18" name="pill-106"/>
          <p:cNvSpPr/>
          <p:nvPr/>
        </p:nvSpPr>
        <p:spPr>
          <a:xfrm>
            <a:off x="3048000" y="3175000"/>
            <a:ext cx="850900" cy="381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9" name="text-107"/>
          <p:cNvSpPr txBox="1"/>
          <p:nvPr/>
        </p:nvSpPr>
        <p:spPr>
          <a:xfrm>
            <a:off x="3048000" y="3175000"/>
            <a:ext cx="850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CapCut</a:t>
            </a:r>
            <a:endParaRPr lang="en-US" sz="1300" dirty="0"/>
          </a:p>
        </p:txBody>
      </p:sp>
      <p:sp>
        <p:nvSpPr>
          <p:cNvPr id="20" name="pill-108"/>
          <p:cNvSpPr/>
          <p:nvPr/>
        </p:nvSpPr>
        <p:spPr>
          <a:xfrm>
            <a:off x="4000500" y="3175000"/>
            <a:ext cx="1841500" cy="381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" name="text-109"/>
          <p:cNvSpPr txBox="1"/>
          <p:nvPr/>
        </p:nvSpPr>
        <p:spPr>
          <a:xfrm>
            <a:off x="4000500" y="3175000"/>
            <a:ext cx="184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Adobe Premiere Pro</a:t>
            </a:r>
            <a:endParaRPr lang="en-US" sz="1300" dirty="0"/>
          </a:p>
        </p:txBody>
      </p:sp>
      <p:sp>
        <p:nvSpPr>
          <p:cNvPr id="22" name="pill-110"/>
          <p:cNvSpPr/>
          <p:nvPr/>
        </p:nvSpPr>
        <p:spPr>
          <a:xfrm>
            <a:off x="5943600" y="3175000"/>
            <a:ext cx="768350" cy="381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text-111"/>
          <p:cNvSpPr txBox="1"/>
          <p:nvPr/>
        </p:nvSpPr>
        <p:spPr>
          <a:xfrm>
            <a:off x="5943600" y="3175000"/>
            <a:ext cx="76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Canva</a:t>
            </a:r>
            <a:endParaRPr lang="en-US" sz="1300" dirty="0"/>
          </a:p>
        </p:txBody>
      </p:sp>
      <p:sp>
        <p:nvSpPr>
          <p:cNvPr id="24" name="pill-112"/>
          <p:cNvSpPr/>
          <p:nvPr/>
        </p:nvSpPr>
        <p:spPr>
          <a:xfrm>
            <a:off x="6813550" y="3175000"/>
            <a:ext cx="768350" cy="381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text-113"/>
          <p:cNvSpPr txBox="1"/>
          <p:nvPr/>
        </p:nvSpPr>
        <p:spPr>
          <a:xfrm>
            <a:off x="6813550" y="3175000"/>
            <a:ext cx="768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Figma</a:t>
            </a:r>
            <a:endParaRPr lang="en-US" sz="1300" dirty="0"/>
          </a:p>
        </p:txBody>
      </p:sp>
      <p:sp>
        <p:nvSpPr>
          <p:cNvPr id="26" name="pill-114"/>
          <p:cNvSpPr/>
          <p:nvPr/>
        </p:nvSpPr>
        <p:spPr>
          <a:xfrm>
            <a:off x="7683500" y="3175000"/>
            <a:ext cx="1098550" cy="381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7" name="text-115"/>
          <p:cNvSpPr txBox="1"/>
          <p:nvPr/>
        </p:nvSpPr>
        <p:spPr>
          <a:xfrm>
            <a:off x="7683500" y="3175000"/>
            <a:ext cx="1098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Lightroom</a:t>
            </a:r>
            <a:endParaRPr lang="en-US" sz="1300" dirty="0"/>
          </a:p>
        </p:txBody>
      </p:sp>
      <p:sp>
        <p:nvSpPr>
          <p:cNvPr id="28" name="text-116"/>
          <p:cNvSpPr txBox="1"/>
          <p:nvPr/>
        </p:nvSpPr>
        <p:spPr>
          <a:xfrm>
            <a:off x="812800" y="4013200"/>
            <a:ext cx="203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Аналитика</a:t>
            </a:r>
            <a:endParaRPr lang="en-US" sz="1400" dirty="0"/>
          </a:p>
        </p:txBody>
      </p:sp>
      <p:sp>
        <p:nvSpPr>
          <p:cNvPr id="29" name="pill-117"/>
          <p:cNvSpPr/>
          <p:nvPr/>
        </p:nvSpPr>
        <p:spPr>
          <a:xfrm>
            <a:off x="3048000" y="3937000"/>
            <a:ext cx="192405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0" name="text-118"/>
          <p:cNvSpPr txBox="1"/>
          <p:nvPr/>
        </p:nvSpPr>
        <p:spPr>
          <a:xfrm>
            <a:off x="3048000" y="3937000"/>
            <a:ext cx="1924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Meta Business Suite</a:t>
            </a:r>
            <a:endParaRPr lang="en-US" sz="1300" dirty="0"/>
          </a:p>
        </p:txBody>
      </p:sp>
      <p:sp>
        <p:nvSpPr>
          <p:cNvPr id="31" name="pill-119"/>
          <p:cNvSpPr/>
          <p:nvPr/>
        </p:nvSpPr>
        <p:spPr>
          <a:xfrm>
            <a:off x="5073650" y="3937000"/>
            <a:ext cx="16764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2" name="text-120"/>
          <p:cNvSpPr txBox="1"/>
          <p:nvPr/>
        </p:nvSpPr>
        <p:spPr>
          <a:xfrm>
            <a:off x="5073650" y="3937000"/>
            <a:ext cx="167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Meta Ads Manager</a:t>
            </a:r>
            <a:endParaRPr lang="en-US" sz="1300" dirty="0"/>
          </a:p>
        </p:txBody>
      </p:sp>
      <p:sp>
        <p:nvSpPr>
          <p:cNvPr id="33" name="pill-121"/>
          <p:cNvSpPr/>
          <p:nvPr/>
        </p:nvSpPr>
        <p:spPr>
          <a:xfrm>
            <a:off x="6851650" y="3937000"/>
            <a:ext cx="192405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4" name="text-122"/>
          <p:cNvSpPr txBox="1"/>
          <p:nvPr/>
        </p:nvSpPr>
        <p:spPr>
          <a:xfrm>
            <a:off x="6851650" y="3937000"/>
            <a:ext cx="1924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Instagram Analytics</a:t>
            </a:r>
            <a:endParaRPr lang="en-US" sz="1300" dirty="0"/>
          </a:p>
        </p:txBody>
      </p:sp>
      <p:sp>
        <p:nvSpPr>
          <p:cNvPr id="35" name="pill-123"/>
          <p:cNvSpPr/>
          <p:nvPr/>
        </p:nvSpPr>
        <p:spPr>
          <a:xfrm>
            <a:off x="8877300" y="3937000"/>
            <a:ext cx="16764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6" name="text-124"/>
          <p:cNvSpPr txBox="1"/>
          <p:nvPr/>
        </p:nvSpPr>
        <p:spPr>
          <a:xfrm>
            <a:off x="8877300" y="3937000"/>
            <a:ext cx="167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TikTok Analytics</a:t>
            </a:r>
            <a:endParaRPr lang="en-US" sz="1300" dirty="0"/>
          </a:p>
        </p:txBody>
      </p:sp>
      <p:sp>
        <p:nvSpPr>
          <p:cNvPr id="37" name="pill-125"/>
          <p:cNvSpPr/>
          <p:nvPr/>
        </p:nvSpPr>
        <p:spPr>
          <a:xfrm>
            <a:off x="3048000" y="4419600"/>
            <a:ext cx="15113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tx1"/>
            </a:solidFill>
            <a:prstDash val="solid"/>
          </a:ln>
        </p:spPr>
      </p:sp>
      <p:sp>
        <p:nvSpPr>
          <p:cNvPr id="38" name="text-126"/>
          <p:cNvSpPr txBox="1"/>
          <p:nvPr/>
        </p:nvSpPr>
        <p:spPr>
          <a:xfrm>
            <a:off x="3048000" y="4419600"/>
            <a:ext cx="1511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YouTube Studio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812800" y="762000"/>
            <a:ext cx="1056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ПЛАН ДЛЯ KOVER SCHOOL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812800" y="11176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60 дней в роли</a:t>
            </a:r>
            <a:endParaRPr lang="en-US" sz="3200" dirty="0"/>
          </a:p>
        </p:txBody>
      </p:sp>
      <p:sp>
        <p:nvSpPr>
          <p:cNvPr id="4" name="card-127"/>
          <p:cNvSpPr/>
          <p:nvPr/>
        </p:nvSpPr>
        <p:spPr>
          <a:xfrm>
            <a:off x="812800" y="2286000"/>
            <a:ext cx="3384550" cy="247650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-128"/>
          <p:cNvSpPr txBox="1"/>
          <p:nvPr/>
        </p:nvSpPr>
        <p:spPr>
          <a:xfrm>
            <a:off x="1066800" y="2540000"/>
            <a:ext cx="2876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НЕДЕЛИ 1–2</a:t>
            </a:r>
            <a:endParaRPr lang="en-US" sz="1200" dirty="0"/>
          </a:p>
        </p:txBody>
      </p:sp>
      <p:sp>
        <p:nvSpPr>
          <p:cNvPr id="6" name="text-129"/>
          <p:cNvSpPr txBox="1"/>
          <p:nvPr/>
        </p:nvSpPr>
        <p:spPr>
          <a:xfrm>
            <a:off x="1066800" y="28448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Аудит</a:t>
            </a:r>
            <a:endParaRPr lang="en-US" sz="1800" dirty="0"/>
          </a:p>
        </p:txBody>
      </p:sp>
      <p:sp>
        <p:nvSpPr>
          <p:cNvPr id="7" name="text-130"/>
          <p:cNvSpPr txBox="1"/>
          <p:nvPr/>
        </p:nvSpPr>
        <p:spPr>
          <a:xfrm>
            <a:off x="1066800" y="3302000"/>
            <a:ext cx="28765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Разбор всех площадок, аудитории и конкурентов в EdTech. Рубрикатор и контент-план.</a:t>
            </a:r>
            <a:endParaRPr lang="en-US" sz="1400" dirty="0"/>
          </a:p>
        </p:txBody>
      </p:sp>
      <p:sp>
        <p:nvSpPr>
          <p:cNvPr id="8" name="card-131"/>
          <p:cNvSpPr/>
          <p:nvPr/>
        </p:nvSpPr>
        <p:spPr>
          <a:xfrm>
            <a:off x="4400550" y="2286000"/>
            <a:ext cx="3384550" cy="247650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9" name="text-132"/>
          <p:cNvSpPr txBox="1"/>
          <p:nvPr/>
        </p:nvSpPr>
        <p:spPr>
          <a:xfrm>
            <a:off x="4654550" y="2540000"/>
            <a:ext cx="2876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НЕДЕЛИ 3–6</a:t>
            </a:r>
            <a:endParaRPr lang="en-US" sz="1200" dirty="0"/>
          </a:p>
        </p:txBody>
      </p:sp>
      <p:sp>
        <p:nvSpPr>
          <p:cNvPr id="10" name="text-133"/>
          <p:cNvSpPr txBox="1"/>
          <p:nvPr/>
        </p:nvSpPr>
        <p:spPr>
          <a:xfrm>
            <a:off x="4654550" y="28448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Тест форматов</a:t>
            </a:r>
            <a:endParaRPr lang="en-US" sz="1800" dirty="0"/>
          </a:p>
        </p:txBody>
      </p:sp>
      <p:sp>
        <p:nvSpPr>
          <p:cNvPr id="11" name="text-134"/>
          <p:cNvSpPr txBox="1"/>
          <p:nvPr/>
        </p:nvSpPr>
        <p:spPr>
          <a:xfrm>
            <a:off x="4654550" y="3302000"/>
            <a:ext cx="28765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Reels, TikTok и Shorts: экспертные, трендовые, отзывы учеников. Личный бренд преподавателей.</a:t>
            </a:r>
            <a:endParaRPr lang="en-US" sz="1400" dirty="0"/>
          </a:p>
        </p:txBody>
      </p:sp>
      <p:sp>
        <p:nvSpPr>
          <p:cNvPr id="12" name="card-135"/>
          <p:cNvSpPr/>
          <p:nvPr/>
        </p:nvSpPr>
        <p:spPr>
          <a:xfrm>
            <a:off x="7988300" y="2286000"/>
            <a:ext cx="3384550" cy="247650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3" name="text-136"/>
          <p:cNvSpPr txBox="1"/>
          <p:nvPr/>
        </p:nvSpPr>
        <p:spPr>
          <a:xfrm>
            <a:off x="8242300" y="2540000"/>
            <a:ext cx="2876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НЕДЕЛИ 7–8</a:t>
            </a:r>
            <a:endParaRPr lang="en-US" sz="1200" dirty="0"/>
          </a:p>
        </p:txBody>
      </p:sp>
      <p:sp>
        <p:nvSpPr>
          <p:cNvPr id="14" name="text-137"/>
          <p:cNvSpPr txBox="1"/>
          <p:nvPr/>
        </p:nvSpPr>
        <p:spPr>
          <a:xfrm>
            <a:off x="8242300" y="2844800"/>
            <a:ext cx="2876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Масштаб</a:t>
            </a:r>
            <a:endParaRPr lang="en-US" sz="1800" dirty="0"/>
          </a:p>
        </p:txBody>
      </p:sp>
      <p:sp>
        <p:nvSpPr>
          <p:cNvPr id="15" name="text-138"/>
          <p:cNvSpPr txBox="1"/>
          <p:nvPr/>
        </p:nvSpPr>
        <p:spPr>
          <a:xfrm>
            <a:off x="8242300" y="3302000"/>
            <a:ext cx="28765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Усиливаю лучшие хуки и форматы, связываю контент с продажами курсов, отчёт по KPI.</a:t>
            </a:r>
            <a:endParaRPr lang="en-US" sz="1400" dirty="0"/>
          </a:p>
        </p:txBody>
      </p:sp>
      <p:sp>
        <p:nvSpPr>
          <p:cNvPr id="16" name="text-139"/>
          <p:cNvSpPr txBox="1"/>
          <p:nvPr/>
        </p:nvSpPr>
        <p:spPr>
          <a:xfrm>
            <a:off x="812800" y="50165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Уже есть опыт: обучающий контент (DemirBank), личный бренд (Бакыт Ирсалиев), сложный продукт простым языком (InWork).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1468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40"/>
          <p:cNvSpPr txBox="1"/>
          <p:nvPr/>
        </p:nvSpPr>
        <p:spPr>
          <a:xfrm>
            <a:off x="812800" y="1587500"/>
            <a:ext cx="508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КОНТАКТЫ</a:t>
            </a:r>
            <a:endParaRPr lang="en-US" sz="1400" dirty="0"/>
          </a:p>
        </p:txBody>
      </p:sp>
      <p:sp>
        <p:nvSpPr>
          <p:cNvPr id="3" name="text-141"/>
          <p:cNvSpPr txBox="1"/>
          <p:nvPr/>
        </p:nvSpPr>
        <p:spPr>
          <a:xfrm>
            <a:off x="812800" y="2032000"/>
            <a:ext cx="10566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Давайте обсудим,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вырастить ваши соцсети</a:t>
            </a:r>
            <a:endParaRPr lang="en-US" sz="4400" dirty="0"/>
          </a:p>
        </p:txBody>
      </p:sp>
      <p:sp>
        <p:nvSpPr>
          <p:cNvPr id="4" name="pill-142"/>
          <p:cNvSpPr/>
          <p:nvPr/>
        </p:nvSpPr>
        <p:spPr>
          <a:xfrm>
            <a:off x="812800" y="3937000"/>
            <a:ext cx="2286000" cy="381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5" name="text-143"/>
          <p:cNvSpPr txBox="1"/>
          <p:nvPr/>
        </p:nvSpPr>
        <p:spPr>
          <a:xfrm>
            <a:off x="812800" y="39370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+420 777 987 587</a:t>
            </a:r>
            <a:endParaRPr lang="en-US" sz="1300" dirty="0"/>
          </a:p>
        </p:txBody>
      </p:sp>
      <p:sp>
        <p:nvSpPr>
          <p:cNvPr id="6" name="pill-144"/>
          <p:cNvSpPr/>
          <p:nvPr/>
        </p:nvSpPr>
        <p:spPr>
          <a:xfrm>
            <a:off x="3251200" y="3937000"/>
            <a:ext cx="3556000" cy="381000"/>
          </a:xfrm>
          <a:prstGeom prst="roundRect">
            <a:avLst>
              <a:gd name="adj" fmla="val 50000"/>
            </a:avLst>
          </a:prstGeom>
          <a:ln w="19050">
            <a:solidFill>
              <a:schemeClr val="bg1"/>
            </a:solidFill>
            <a:prstDash val="solid"/>
          </a:ln>
        </p:spPr>
      </p:sp>
      <p:sp>
        <p:nvSpPr>
          <p:cNvPr id="7" name="text-145"/>
          <p:cNvSpPr txBox="1"/>
          <p:nvPr/>
        </p:nvSpPr>
        <p:spPr>
          <a:xfrm>
            <a:off x="3251200" y="39370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melisakangeldieva@icloud.com</a:t>
            </a:r>
            <a:endParaRPr lang="en-US" sz="1300" dirty="0"/>
          </a:p>
        </p:txBody>
      </p:sp>
      <p:sp>
        <p:nvSpPr>
          <p:cNvPr id="8" name="text-146"/>
          <p:cNvSpPr txBox="1"/>
          <p:nvPr/>
        </p:nvSpPr>
        <p:spPr>
          <a:xfrm>
            <a:off x="812800" y="4635500"/>
            <a:ext cx="635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Мелисса Кангельдиева · Чехия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geldieva SMM">
  <a:themeElements>
    <a:clrScheme name="Kangeldieva SMM">
      <a:dk1>
        <a:srgbClr val="17162B"/>
      </a:dk1>
      <a:lt1>
        <a:srgbClr val="F5F1EA"/>
      </a:lt1>
      <a:dk2>
        <a:srgbClr val="4A4858"/>
      </a:dk2>
      <a:lt2>
        <a:srgbClr val="ECE6DB"/>
      </a:lt2>
      <a:accent1>
        <a:srgbClr val="C4441F"/>
      </a:accent1>
      <a:accent2>
        <a:srgbClr val="FF8A5B"/>
      </a:accent2>
      <a:accent3>
        <a:srgbClr val="FBF9F5"/>
      </a:accent3>
      <a:accent4>
        <a:srgbClr val="E2DBCF"/>
      </a:accent4>
      <a:accent5>
        <a:srgbClr val="6B6478"/>
      </a:accent5>
      <a:accent6>
        <a:srgbClr val="C9C5D6"/>
      </a:accent6>
      <a:hlink>
        <a:srgbClr val="C4441F"/>
      </a:hlink>
      <a:folHlink>
        <a:srgbClr val="6B6478"/>
      </a:folHlink>
    </a:clrScheme>
    <a:fontScheme name="Kangeldieva SMM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Мелисса Кангельдиева — SMM</dc:title>
  <dc:subject>PptxGenJS Presentation</dc:subject>
  <dc:creator>Мелисса Кангельдиева</dc:creator>
  <cp:lastModifiedBy>Мелисса Кангельдиева</cp:lastModifiedBy>
  <cp:revision>1</cp:revision>
  <dcterms:created xsi:type="dcterms:W3CDTF">2026-10-03T19:52:47Z</dcterms:created>
  <dcterms:modified xsi:type="dcterms:W3CDTF">2026-10-03T19:52:47Z</dcterms:modified>
</cp:coreProperties>
</file>